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7473613" cy="9756775"/>
  <p:notesSz cx="9756775" cy="1747361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57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843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217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0810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10" Type="http://schemas.openxmlformats.org/officeDocument/2006/relationships/image" Target="../media/image1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10" Type="http://schemas.openxmlformats.org/officeDocument/2006/relationships/image" Target="../media/image1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Relationship Id="rId9" Type="http://schemas.openxmlformats.org/officeDocument/2006/relationships/image" Target="../media/image6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63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mailto:contact@kainuotech.com" TargetMode="External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5" Type="http://schemas.openxmlformats.org/officeDocument/2006/relationships/hyperlink" Target="http://www.kainuotech.com/" TargetMode="External"/><Relationship Id="rId4" Type="http://schemas.openxmlformats.org/officeDocument/2006/relationships/hyperlink" Target="http://www.custly-crm.kainuotech.com/dem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474184" cy="9756648"/>
          </a:xfrm>
          <a:prstGeom prst="rect">
            <a:avLst/>
          </a:prstGeom>
          <a:solidFill>
            <a:srgbClr val="EAEBE3">
              <a:alpha val="10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" name="Image 1" descr=" 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5391" y="1435548"/>
            <a:ext cx="3403402" cy="351899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584567" y="8416379"/>
            <a:ext cx="4355847" cy="1130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992"/>
              </a:lnSpc>
              <a:buNone/>
            </a:pPr>
            <a:r>
              <a:rPr lang="en-US" sz="1500" dirty="0">
                <a:solidFill>
                  <a:srgbClr val="5E5F5A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Applicant: Johnson Gao</a:t>
            </a:r>
            <a:endParaRPr lang="en-US" sz="1500" dirty="0"/>
          </a:p>
          <a:p>
            <a:pPr marL="0" indent="0" algn="ctr">
              <a:lnSpc>
                <a:spcPts val="1992"/>
              </a:lnSpc>
              <a:buNone/>
            </a:pPr>
            <a:r>
              <a:rPr lang="en-US" sz="1500" dirty="0">
                <a:solidFill>
                  <a:srgbClr val="5E5F5A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Company: Kainuo Innovision Tech Co., Limited</a:t>
            </a:r>
            <a:endParaRPr lang="en-US" sz="1500" dirty="0"/>
          </a:p>
          <a:p>
            <a:pPr marL="0" indent="0" algn="ctr">
              <a:lnSpc>
                <a:spcPts val="1992"/>
              </a:lnSpc>
              <a:buNone/>
            </a:pPr>
            <a:r>
              <a:rPr lang="en-US" sz="1500" dirty="0">
                <a:solidFill>
                  <a:srgbClr val="5E5F5A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Program: HKSTP Ideation Application</a:t>
            </a:r>
            <a:endParaRPr lang="en-US" sz="1500" dirty="0"/>
          </a:p>
          <a:p>
            <a:pPr marL="0" indent="0" algn="ctr">
              <a:lnSpc>
                <a:spcPts val="1992"/>
              </a:lnSpc>
              <a:buNone/>
            </a:pPr>
            <a:r>
              <a:rPr lang="en-US" sz="1500" dirty="0">
                <a:solidFill>
                  <a:srgbClr val="5E5F5A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Date</a:t>
            </a:r>
            <a:r>
              <a:rPr lang="en-US" sz="1500">
                <a:solidFill>
                  <a:srgbClr val="5E5F5A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: 2026-01-2</a:t>
            </a:r>
            <a:r>
              <a:rPr lang="en-US" altLang="zh-TW" sz="1500">
                <a:solidFill>
                  <a:srgbClr val="5E5F5A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9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4807669" y="6515019"/>
            <a:ext cx="10096107" cy="626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383935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Calm CRM for SMEs with templates + privacy-first deployment.</a:t>
            </a:r>
            <a:endParaRPr lang="en-US" sz="2500" dirty="0"/>
          </a:p>
        </p:txBody>
      </p:sp>
      <p:sp>
        <p:nvSpPr>
          <p:cNvPr id="8" name="Text 4"/>
          <p:cNvSpPr/>
          <p:nvPr/>
        </p:nvSpPr>
        <p:spPr>
          <a:xfrm>
            <a:off x="5663871" y="4975721"/>
            <a:ext cx="6675579" cy="17743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200" dirty="0">
                <a:solidFill>
                  <a:srgbClr val="2E513E">
                    <a:alpha val="100000"/>
                  </a:srgbClr>
                </a:solidFill>
                <a:latin typeface="EB Garamond Bold" pitchFamily="34" charset="0"/>
                <a:ea typeface="EB Garamond Bold" pitchFamily="34" charset="-122"/>
                <a:cs typeface="EB Garamond Bold" pitchFamily="34" charset="-120"/>
              </a:rPr>
              <a:t>Custly CRM</a:t>
            </a:r>
            <a:endParaRPr lang="en-US" sz="9200" dirty="0"/>
          </a:p>
        </p:txBody>
      </p:sp>
      <p:pic>
        <p:nvPicPr>
          <p:cNvPr id="9" name="Image 1" descr=" ">
            <a:extLst>
              <a:ext uri="{FF2B5EF4-FFF2-40B4-BE49-F238E27FC236}">
                <a16:creationId xmlns:a16="http://schemas.microsoft.com/office/drawing/2014/main" id="{A0A7FD4B-4733-B3F2-2712-B9ABB9F69C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7176" y="8912481"/>
            <a:ext cx="816437" cy="84416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474184" cy="9756648"/>
          </a:xfrm>
          <a:prstGeom prst="rect">
            <a:avLst/>
          </a:prstGeom>
          <a:solidFill>
            <a:srgbClr val="E9EBE3">
              <a:alpha val="100000"/>
            </a:srgbClr>
          </a:solidFill>
          <a:ln/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2236E90-9775-3A70-AB5E-C46192226983}"/>
              </a:ext>
            </a:extLst>
          </p:cNvPr>
          <p:cNvSpPr txBox="1"/>
          <p:nvPr/>
        </p:nvSpPr>
        <p:spPr>
          <a:xfrm>
            <a:off x="3213062" y="5021190"/>
            <a:ext cx="1122483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HK" altLang="zh-CN" sz="3000" b="1" dirty="0" err="1">
                <a:solidFill>
                  <a:schemeClr val="accent6">
                    <a:lumMod val="50000"/>
                  </a:schemeClr>
                </a:solidFill>
              </a:rPr>
              <a:t>Custly</a:t>
            </a:r>
            <a:r>
              <a:rPr kumimoji="1" lang="en-HK" altLang="zh-CN" sz="3000" b="1" dirty="0">
                <a:solidFill>
                  <a:schemeClr val="accent6">
                    <a:lumMod val="50000"/>
                  </a:schemeClr>
                </a:solidFill>
              </a:rPr>
              <a:t> is a calm, modern CRM for SMEs that centralizes customer data, manages deals and tasks, and offers industry templates with EN/</a:t>
            </a:r>
            <a:r>
              <a:rPr kumimoji="1" lang="zh-CN" altLang="en-US" sz="3000" b="1" dirty="0">
                <a:solidFill>
                  <a:schemeClr val="accent6">
                    <a:lumMod val="50000"/>
                  </a:schemeClr>
                </a:solidFill>
              </a:rPr>
              <a:t>简</a:t>
            </a:r>
          </a:p>
          <a:p>
            <a:r>
              <a:rPr kumimoji="1" lang="zh-CN" altLang="en-US" sz="3000" b="1" dirty="0">
                <a:solidFill>
                  <a:schemeClr val="accent6">
                    <a:lumMod val="50000"/>
                  </a:schemeClr>
                </a:solidFill>
              </a:rPr>
              <a:t>体</a:t>
            </a:r>
            <a:r>
              <a:rPr kumimoji="1" lang="en-US" altLang="zh-CN" sz="3000" b="1" dirty="0">
                <a:solidFill>
                  <a:schemeClr val="accent6">
                    <a:lumMod val="50000"/>
                  </a:schemeClr>
                </a:solidFill>
              </a:rPr>
              <a:t>/</a:t>
            </a:r>
            <a:r>
              <a:rPr kumimoji="1" lang="zh-CN" altLang="en-US" sz="3000" b="1" dirty="0">
                <a:solidFill>
                  <a:schemeClr val="accent6">
                    <a:lumMod val="50000"/>
                  </a:schemeClr>
                </a:solidFill>
              </a:rPr>
              <a:t>繁體</a:t>
            </a:r>
            <a:r>
              <a:rPr kumimoji="1" lang="zh-TW" altLang="en-US" sz="3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kumimoji="1" lang="en-HK" altLang="zh-CN" sz="3000" b="1" dirty="0">
                <a:solidFill>
                  <a:schemeClr val="accent6">
                    <a:lumMod val="50000"/>
                  </a:schemeClr>
                </a:solidFill>
              </a:rPr>
              <a:t>support-enabling enabling privacy-first deployments and fast onboarding from lead to revenue.</a:t>
            </a:r>
            <a:endParaRPr kumimoji="1" lang="zh-CN" altLang="en-US" sz="3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8" name="Text 30">
            <a:extLst>
              <a:ext uri="{FF2B5EF4-FFF2-40B4-BE49-F238E27FC236}">
                <a16:creationId xmlns:a16="http://schemas.microsoft.com/office/drawing/2014/main" id="{CD07E8FE-4171-5505-0CFB-CFFB52574B18}"/>
              </a:ext>
            </a:extLst>
          </p:cNvPr>
          <p:cNvSpPr/>
          <p:nvPr/>
        </p:nvSpPr>
        <p:spPr>
          <a:xfrm>
            <a:off x="990542" y="817289"/>
            <a:ext cx="10176342" cy="117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3E5142">
                    <a:alpha val="100000"/>
                  </a:srgbClr>
                </a:solidFill>
                <a:latin typeface="EB Garamond Bold" pitchFamily="34" charset="0"/>
                <a:ea typeface="EB Garamond Bold" pitchFamily="34" charset="-122"/>
                <a:cs typeface="EB Garamond Bold" pitchFamily="34" charset="-120"/>
              </a:rPr>
              <a:t>Project Summary</a:t>
            </a:r>
            <a:endParaRPr lang="en-US" sz="6400" b="1" dirty="0"/>
          </a:p>
        </p:txBody>
      </p:sp>
      <p:pic>
        <p:nvPicPr>
          <p:cNvPr id="9" name="Image 1" descr=" ">
            <a:extLst>
              <a:ext uri="{FF2B5EF4-FFF2-40B4-BE49-F238E27FC236}">
                <a16:creationId xmlns:a16="http://schemas.microsoft.com/office/drawing/2014/main" id="{5260CAF6-4EA7-1B4A-36E0-B4E2C641E6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5300" y="1609898"/>
            <a:ext cx="3023010" cy="3125686"/>
          </a:xfrm>
          <a:prstGeom prst="rect">
            <a:avLst/>
          </a:prstGeom>
        </p:spPr>
      </p:pic>
      <p:pic>
        <p:nvPicPr>
          <p:cNvPr id="11" name="Image 1" descr=" ">
            <a:extLst>
              <a:ext uri="{FF2B5EF4-FFF2-40B4-BE49-F238E27FC236}">
                <a16:creationId xmlns:a16="http://schemas.microsoft.com/office/drawing/2014/main" id="{996E2839-E9F3-5043-EEE9-7DDBCC640A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7176" y="8912481"/>
            <a:ext cx="816437" cy="84416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474184" cy="9756648"/>
          </a:xfrm>
          <a:prstGeom prst="rect">
            <a:avLst/>
          </a:prstGeom>
          <a:solidFill>
            <a:srgbClr val="EBEBE1">
              <a:alpha val="10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" name="Image 1" descr=" 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4446" y="7901869"/>
            <a:ext cx="698459" cy="686014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71467" y="7508046"/>
            <a:ext cx="8102129" cy="143554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2"/>
          <p:cNvSpPr/>
          <p:nvPr/>
        </p:nvSpPr>
        <p:spPr>
          <a:xfrm>
            <a:off x="2044581" y="8208881"/>
            <a:ext cx="6053315" cy="478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dirty="0">
                <a:solidFill>
                  <a:srgbClr val="34353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the adoption of cloud-only SaaS solutions.</a:t>
            </a:r>
            <a:endParaRPr lang="en-US" sz="2300" dirty="0"/>
          </a:p>
        </p:txBody>
      </p:sp>
      <p:sp>
        <p:nvSpPr>
          <p:cNvPr id="7" name="Text 3"/>
          <p:cNvSpPr/>
          <p:nvPr/>
        </p:nvSpPr>
        <p:spPr>
          <a:xfrm>
            <a:off x="4311833" y="7812941"/>
            <a:ext cx="3276410" cy="482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33342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Privacy concerns limit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2057280" y="7815058"/>
            <a:ext cx="2637213" cy="478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E2F2C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Data Sovereignty:</a:t>
            </a:r>
            <a:endParaRPr lang="en-US" sz="2300" b="1" dirty="0"/>
          </a:p>
        </p:txBody>
      </p:sp>
      <p:pic>
        <p:nvPicPr>
          <p:cNvPr id="9" name="Image 2" descr=" 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843" y="7889165"/>
            <a:ext cx="698459" cy="698718"/>
          </a:xfrm>
          <a:prstGeom prst="rect">
            <a:avLst/>
          </a:prstGeom>
        </p:spPr>
      </p:pic>
      <p:pic>
        <p:nvPicPr>
          <p:cNvPr id="10" name="Image 3" descr=" 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4446" y="6567952"/>
            <a:ext cx="711159" cy="711422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584166" y="6288465"/>
            <a:ext cx="8102129" cy="129580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6"/>
          <p:cNvSpPr/>
          <p:nvPr/>
        </p:nvSpPr>
        <p:spPr>
          <a:xfrm>
            <a:off x="2057280" y="6910959"/>
            <a:ext cx="6184540" cy="482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363732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workflows and industry-specific presets.</a:t>
            </a:r>
            <a:endParaRPr lang="en-US" sz="2400" dirty="0"/>
          </a:p>
        </p:txBody>
      </p:sp>
      <p:sp>
        <p:nvSpPr>
          <p:cNvPr id="13" name="Text 7"/>
          <p:cNvSpPr/>
          <p:nvPr/>
        </p:nvSpPr>
        <p:spPr>
          <a:xfrm>
            <a:off x="4245064" y="6519253"/>
            <a:ext cx="3691252" cy="478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dirty="0">
                <a:solidFill>
                  <a:srgbClr val="363732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Local teams lack bilingual</a:t>
            </a:r>
            <a:endParaRPr lang="en-US" sz="2300" dirty="0"/>
          </a:p>
        </p:txBody>
      </p:sp>
      <p:sp>
        <p:nvSpPr>
          <p:cNvPr id="14" name="Text 8"/>
          <p:cNvSpPr/>
          <p:nvPr/>
        </p:nvSpPr>
        <p:spPr>
          <a:xfrm>
            <a:off x="2057280" y="6519253"/>
            <a:ext cx="2548318" cy="491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32420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Localization Gap:</a:t>
            </a:r>
            <a:endParaRPr lang="en-US" sz="2300" b="1" dirty="0"/>
          </a:p>
        </p:txBody>
      </p:sp>
      <p:pic>
        <p:nvPicPr>
          <p:cNvPr id="15" name="Image 4" descr=" 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843" y="6593360"/>
            <a:ext cx="698459" cy="698718"/>
          </a:xfrm>
          <a:prstGeom prst="rect">
            <a:avLst/>
          </a:prstGeom>
        </p:spPr>
      </p:pic>
      <p:pic>
        <p:nvPicPr>
          <p:cNvPr id="16" name="Image 5" descr=" 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37145" y="5145107"/>
            <a:ext cx="698459" cy="686014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571467" y="4598837"/>
            <a:ext cx="8127527" cy="166422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0"/>
          <p:cNvSpPr/>
          <p:nvPr/>
        </p:nvSpPr>
        <p:spPr>
          <a:xfrm>
            <a:off x="2044581" y="5286968"/>
            <a:ext cx="6256503" cy="885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919"/>
              </a:lnSpc>
              <a:buNone/>
            </a:pPr>
            <a:r>
              <a:rPr lang="en-US" sz="2300" dirty="0">
                <a:solidFill>
                  <a:srgbClr val="353632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(Salesforce/HubSpot) are expensive, heavy,</a:t>
            </a:r>
            <a:endParaRPr lang="en-US" sz="2300" dirty="0"/>
          </a:p>
          <a:p>
            <a:pPr marL="0" indent="0" algn="l">
              <a:lnSpc>
                <a:spcPts val="2919"/>
              </a:lnSpc>
              <a:buNone/>
            </a:pPr>
            <a:r>
              <a:rPr lang="en-US" sz="2300" dirty="0">
                <a:solidFill>
                  <a:srgbClr val="353632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and slow to adopt.</a:t>
            </a:r>
            <a:endParaRPr lang="en-US" sz="2300" dirty="0"/>
          </a:p>
        </p:txBody>
      </p:sp>
      <p:sp>
        <p:nvSpPr>
          <p:cNvPr id="19" name="Text 11"/>
          <p:cNvSpPr/>
          <p:nvPr/>
        </p:nvSpPr>
        <p:spPr>
          <a:xfrm>
            <a:off x="4132874" y="4880441"/>
            <a:ext cx="2510221" cy="465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dirty="0">
                <a:solidFill>
                  <a:srgbClr val="3C3D39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Traditional CRMs</a:t>
            </a:r>
            <a:endParaRPr lang="en-US" sz="2300" dirty="0"/>
          </a:p>
        </p:txBody>
      </p:sp>
      <p:sp>
        <p:nvSpPr>
          <p:cNvPr id="20" name="Text 12"/>
          <p:cNvSpPr/>
          <p:nvPr/>
        </p:nvSpPr>
        <p:spPr>
          <a:xfrm>
            <a:off x="2069980" y="4867737"/>
            <a:ext cx="2332431" cy="478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B2C28">
                    <a:alpha val="100000"/>
                  </a:srgbClr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Barrier to Entry:</a:t>
            </a:r>
            <a:endParaRPr lang="en-US" sz="2300" b="1" dirty="0"/>
          </a:p>
        </p:txBody>
      </p:sp>
      <p:pic>
        <p:nvPicPr>
          <p:cNvPr id="21" name="Image 6" descr=" 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7843" y="5132403"/>
            <a:ext cx="698459" cy="724126"/>
          </a:xfrm>
          <a:prstGeom prst="rect">
            <a:avLst/>
          </a:prstGeom>
        </p:spPr>
      </p:pic>
      <p:pic>
        <p:nvPicPr>
          <p:cNvPr id="22" name="Image 7" descr=" 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24446" y="3747671"/>
            <a:ext cx="685760" cy="660606"/>
          </a:xfrm>
          <a:prstGeom prst="rect">
            <a:avLst/>
          </a:prstGeom>
        </p:spPr>
      </p:pic>
      <p:pic>
        <p:nvPicPr>
          <p:cNvPr id="23" name="Image 8" descr=" 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24393" y="2718649"/>
            <a:ext cx="25399" cy="5945457"/>
          </a:xfrm>
          <a:prstGeom prst="rect">
            <a:avLst/>
          </a:prstGeom>
        </p:spPr>
      </p:pic>
      <p:pic>
        <p:nvPicPr>
          <p:cNvPr id="24" name="Image 9" descr=" 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7843" y="3722263"/>
            <a:ext cx="698459" cy="711422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10591184" y="8208881"/>
            <a:ext cx="4542103" cy="478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dirty="0">
                <a:solidFill>
                  <a:srgbClr val="30312D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self-hosted data (privacy-first).</a:t>
            </a:r>
            <a:endParaRPr lang="en-US" sz="2300" dirty="0"/>
          </a:p>
        </p:txBody>
      </p:sp>
      <p:sp>
        <p:nvSpPr>
          <p:cNvPr id="27" name="Text 15"/>
          <p:cNvSpPr/>
          <p:nvPr/>
        </p:nvSpPr>
        <p:spPr>
          <a:xfrm>
            <a:off x="11951564" y="7802354"/>
            <a:ext cx="3119785" cy="491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dirty="0">
                <a:solidFill>
                  <a:srgbClr val="373733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Options for hosted or</a:t>
            </a:r>
            <a:endParaRPr lang="en-US" sz="2300" dirty="0"/>
          </a:p>
        </p:txBody>
      </p:sp>
      <p:sp>
        <p:nvSpPr>
          <p:cNvPr id="28" name="Text 16"/>
          <p:cNvSpPr/>
          <p:nvPr/>
        </p:nvSpPr>
        <p:spPr>
          <a:xfrm>
            <a:off x="10591184" y="7815058"/>
            <a:ext cx="1545077" cy="478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D2E2A">
                    <a:alpha val="100000"/>
                  </a:srgbClr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Flexibility:</a:t>
            </a:r>
            <a:endParaRPr lang="en-US" sz="2300" b="1" dirty="0"/>
          </a:p>
        </p:txBody>
      </p:sp>
      <p:sp>
        <p:nvSpPr>
          <p:cNvPr id="29" name="Text 17"/>
          <p:cNvSpPr/>
          <p:nvPr/>
        </p:nvSpPr>
        <p:spPr>
          <a:xfrm>
            <a:off x="12156314" y="6440912"/>
            <a:ext cx="4051064" cy="558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383935">
                    <a:alpha val="100000"/>
                  </a:srgbClr>
                </a:solidFill>
                <a:latin typeface="PingFang SC Regular" pitchFamily="34" charset="0"/>
                <a:ea typeface="PingFang SC Regular" pitchFamily="34" charset="-122"/>
                <a:cs typeface="PingFang SC Regular" pitchFamily="34" charset="-120"/>
              </a:rPr>
              <a:t>Native support for EN/简体</a:t>
            </a:r>
            <a:endParaRPr lang="en-US" sz="2400" dirty="0"/>
          </a:p>
        </p:txBody>
      </p:sp>
      <p:sp>
        <p:nvSpPr>
          <p:cNvPr id="30" name="Text 18"/>
          <p:cNvSpPr/>
          <p:nvPr/>
        </p:nvSpPr>
        <p:spPr>
          <a:xfrm>
            <a:off x="10781673" y="6872847"/>
            <a:ext cx="800053" cy="457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51514E">
                    <a:alpha val="100000"/>
                  </a:srgbClr>
                </a:solidFill>
                <a:latin typeface="PingFang SC Regular" pitchFamily="34" charset="0"/>
                <a:ea typeface="PingFang SC Regular" pitchFamily="34" charset="-122"/>
                <a:cs typeface="PingFang SC Regular" pitchFamily="34" charset="-120"/>
              </a:rPr>
              <a:t>繁體.</a:t>
            </a:r>
            <a:endParaRPr lang="en-US" sz="2400" dirty="0"/>
          </a:p>
        </p:txBody>
      </p:sp>
      <p:sp>
        <p:nvSpPr>
          <p:cNvPr id="31" name="Text 19"/>
          <p:cNvSpPr/>
          <p:nvPr/>
        </p:nvSpPr>
        <p:spPr>
          <a:xfrm>
            <a:off x="10472658" y="6855908"/>
            <a:ext cx="313248" cy="503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45454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|</a:t>
            </a:r>
            <a:endParaRPr lang="en-US" sz="3200" dirty="0"/>
          </a:p>
        </p:txBody>
      </p:sp>
      <p:sp>
        <p:nvSpPr>
          <p:cNvPr id="32" name="Text 20"/>
          <p:cNvSpPr/>
          <p:nvPr/>
        </p:nvSpPr>
        <p:spPr>
          <a:xfrm>
            <a:off x="10591184" y="6483259"/>
            <a:ext cx="1896423" cy="461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42521">
                    <a:alpha val="10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Localization:</a:t>
            </a:r>
            <a:endParaRPr lang="en-US" sz="2200" b="1" dirty="0"/>
          </a:p>
        </p:txBody>
      </p:sp>
      <p:sp>
        <p:nvSpPr>
          <p:cNvPr id="33" name="Text 21"/>
          <p:cNvSpPr/>
          <p:nvPr/>
        </p:nvSpPr>
        <p:spPr>
          <a:xfrm>
            <a:off x="10565786" y="5007481"/>
            <a:ext cx="5761232" cy="923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113"/>
              </a:lnSpc>
              <a:buNone/>
            </a:pPr>
            <a:r>
              <a:rPr lang="en-US" sz="2300" b="1" dirty="0">
                <a:solidFill>
                  <a:srgbClr val="474743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ROI: </a:t>
            </a:r>
            <a:r>
              <a:rPr lang="zh-TW" altLang="en-US" sz="2300" b="1" dirty="0">
                <a:solidFill>
                  <a:srgbClr val="474743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 </a:t>
            </a:r>
            <a:r>
              <a:rPr lang="en-US" sz="2300" dirty="0">
                <a:solidFill>
                  <a:srgbClr val="474743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Affordable pricing structures suited</a:t>
            </a:r>
            <a:endParaRPr lang="en-US" sz="2300" dirty="0"/>
          </a:p>
          <a:p>
            <a:pPr marL="0" indent="0" algn="l">
              <a:lnSpc>
                <a:spcPts val="3113"/>
              </a:lnSpc>
              <a:buNone/>
            </a:pPr>
            <a:r>
              <a:rPr lang="en-US" sz="2300" dirty="0">
                <a:solidFill>
                  <a:srgbClr val="474743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for SMEs.</a:t>
            </a:r>
            <a:endParaRPr lang="en-US" sz="2300" dirty="0"/>
          </a:p>
        </p:txBody>
      </p:sp>
      <p:sp>
        <p:nvSpPr>
          <p:cNvPr id="34" name="Text 22"/>
          <p:cNvSpPr/>
          <p:nvPr/>
        </p:nvSpPr>
        <p:spPr>
          <a:xfrm>
            <a:off x="10578485" y="4041979"/>
            <a:ext cx="3386470" cy="478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dirty="0">
                <a:solidFill>
                  <a:srgbClr val="393A36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implementation cycles.</a:t>
            </a:r>
            <a:endParaRPr lang="en-US" sz="2300" dirty="0"/>
          </a:p>
        </p:txBody>
      </p:sp>
      <p:sp>
        <p:nvSpPr>
          <p:cNvPr id="35" name="Text 23"/>
          <p:cNvSpPr/>
          <p:nvPr/>
        </p:nvSpPr>
        <p:spPr>
          <a:xfrm>
            <a:off x="2044581" y="4041979"/>
            <a:ext cx="5519946" cy="478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dirty="0">
                <a:solidFill>
                  <a:srgbClr val="3A3A36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across chat, email, and spreadsheets.</a:t>
            </a:r>
            <a:endParaRPr lang="en-US" sz="2300" dirty="0"/>
          </a:p>
        </p:txBody>
      </p:sp>
      <p:sp>
        <p:nvSpPr>
          <p:cNvPr id="36" name="Text 24"/>
          <p:cNvSpPr/>
          <p:nvPr/>
        </p:nvSpPr>
        <p:spPr>
          <a:xfrm>
            <a:off x="11767232" y="3635452"/>
            <a:ext cx="3411868" cy="491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dirty="0">
                <a:solidFill>
                  <a:srgbClr val="383935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Fast setup without long</a:t>
            </a:r>
            <a:endParaRPr lang="en-US" sz="2300" dirty="0"/>
          </a:p>
        </p:txBody>
      </p:sp>
      <p:sp>
        <p:nvSpPr>
          <p:cNvPr id="37" name="Text 25"/>
          <p:cNvSpPr/>
          <p:nvPr/>
        </p:nvSpPr>
        <p:spPr>
          <a:xfrm>
            <a:off x="10565786" y="3633335"/>
            <a:ext cx="1371520" cy="495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E2E2B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Velocity:</a:t>
            </a:r>
            <a:endParaRPr lang="en-US" sz="2400" b="1" dirty="0"/>
          </a:p>
        </p:txBody>
      </p:sp>
      <p:sp>
        <p:nvSpPr>
          <p:cNvPr id="38" name="Text 26"/>
          <p:cNvSpPr/>
          <p:nvPr/>
        </p:nvSpPr>
        <p:spPr>
          <a:xfrm>
            <a:off x="9562544" y="2608548"/>
            <a:ext cx="3026657" cy="677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637761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Market Desire</a:t>
            </a:r>
            <a:endParaRPr lang="en-US" sz="3400" b="1" dirty="0"/>
          </a:p>
        </p:txBody>
      </p:sp>
      <p:sp>
        <p:nvSpPr>
          <p:cNvPr id="39" name="Text 27"/>
          <p:cNvSpPr/>
          <p:nvPr/>
        </p:nvSpPr>
        <p:spPr>
          <a:xfrm>
            <a:off x="4388809" y="3635452"/>
            <a:ext cx="3107086" cy="478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dirty="0">
                <a:solidFill>
                  <a:srgbClr val="393A36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Customer data is lost</a:t>
            </a:r>
            <a:endParaRPr lang="en-US" sz="2300" dirty="0"/>
          </a:p>
        </p:txBody>
      </p:sp>
      <p:sp>
        <p:nvSpPr>
          <p:cNvPr id="40" name="Text 28"/>
          <p:cNvSpPr/>
          <p:nvPr/>
        </p:nvSpPr>
        <p:spPr>
          <a:xfrm>
            <a:off x="2044581" y="3622748"/>
            <a:ext cx="2802304" cy="491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32322F">
                    <a:alpha val="100000"/>
                  </a:srgbClr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Scattered Context:</a:t>
            </a:r>
            <a:endParaRPr lang="en-US" sz="2300" b="1" dirty="0"/>
          </a:p>
        </p:txBody>
      </p:sp>
      <p:sp>
        <p:nvSpPr>
          <p:cNvPr id="41" name="Text 29"/>
          <p:cNvSpPr/>
          <p:nvPr/>
        </p:nvSpPr>
        <p:spPr>
          <a:xfrm>
            <a:off x="990542" y="2595844"/>
            <a:ext cx="2734574" cy="690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93645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Current Pain</a:t>
            </a:r>
            <a:endParaRPr lang="en-US" sz="3400" b="1" dirty="0"/>
          </a:p>
        </p:txBody>
      </p:sp>
      <p:sp>
        <p:nvSpPr>
          <p:cNvPr id="42" name="Text 30"/>
          <p:cNvSpPr/>
          <p:nvPr/>
        </p:nvSpPr>
        <p:spPr>
          <a:xfrm>
            <a:off x="990542" y="817289"/>
            <a:ext cx="10176342" cy="117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3E5142">
                    <a:alpha val="100000"/>
                  </a:srgbClr>
                </a:solidFill>
                <a:latin typeface="EB Garamond Bold" pitchFamily="34" charset="0"/>
                <a:ea typeface="EB Garamond Bold" pitchFamily="34" charset="-122"/>
                <a:cs typeface="EB Garamond Bold" pitchFamily="34" charset="-120"/>
              </a:rPr>
              <a:t>The Problem &amp; Market Need</a:t>
            </a:r>
            <a:endParaRPr lang="en-US" sz="6400" b="1" dirty="0"/>
          </a:p>
        </p:txBody>
      </p:sp>
      <p:pic>
        <p:nvPicPr>
          <p:cNvPr id="44" name="Image 1" descr=" ">
            <a:extLst>
              <a:ext uri="{FF2B5EF4-FFF2-40B4-BE49-F238E27FC236}">
                <a16:creationId xmlns:a16="http://schemas.microsoft.com/office/drawing/2014/main" id="{B1CA8D01-CD89-2524-BED3-5CE6AAB467F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657176" y="8912481"/>
            <a:ext cx="816437" cy="84416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474184" cy="9756648"/>
          </a:xfrm>
          <a:prstGeom prst="rect">
            <a:avLst/>
          </a:prstGeom>
          <a:solidFill>
            <a:srgbClr val="EDEDE3">
              <a:alpha val="10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7474184" cy="975664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" name="Image 0" descr=" 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5358" y="4205014"/>
            <a:ext cx="787354" cy="25407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467" y="0"/>
            <a:ext cx="16902717" cy="975664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3"/>
          <p:cNvSpPr/>
          <p:nvPr/>
        </p:nvSpPr>
        <p:spPr>
          <a:xfrm>
            <a:off x="495271" y="7063407"/>
            <a:ext cx="16978913" cy="208345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4"/>
          <p:cNvSpPr/>
          <p:nvPr/>
        </p:nvSpPr>
        <p:spPr>
          <a:xfrm>
            <a:off x="876249" y="7076111"/>
            <a:ext cx="15708987" cy="2045339"/>
          </a:xfrm>
          <a:prstGeom prst="roundRect">
            <a:avLst>
              <a:gd name="adj" fmla="val 6259"/>
            </a:avLst>
          </a:prstGeom>
          <a:solidFill>
            <a:srgbClr val="CFDACA">
              <a:alpha val="10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9" name="Image 2" descr=" 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65839" y="7393710"/>
            <a:ext cx="25399" cy="1410141"/>
          </a:xfrm>
          <a:prstGeom prst="rect">
            <a:avLst/>
          </a:prstGeom>
        </p:spPr>
      </p:pic>
      <p:pic>
        <p:nvPicPr>
          <p:cNvPr id="10" name="Image 3" descr=" 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2946" y="7393710"/>
            <a:ext cx="25399" cy="141014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873810" y="7916690"/>
            <a:ext cx="4046831" cy="910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831"/>
              </a:lnSpc>
              <a:buNone/>
            </a:pPr>
            <a:r>
              <a:rPr lang="en-US" sz="2300" dirty="0">
                <a:solidFill>
                  <a:srgbClr val="2E322C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Designed for daily focus and</a:t>
            </a:r>
            <a:endParaRPr lang="en-US" sz="2300" dirty="0"/>
          </a:p>
          <a:p>
            <a:pPr marL="0" indent="0" algn="l">
              <a:lnSpc>
                <a:spcPts val="2831"/>
              </a:lnSpc>
              <a:buNone/>
            </a:pPr>
            <a:r>
              <a:rPr lang="en-US" sz="2300" dirty="0">
                <a:solidFill>
                  <a:srgbClr val="2E322C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minimal noise.</a:t>
            </a:r>
            <a:endParaRPr lang="en-US" sz="2300" dirty="0"/>
          </a:p>
        </p:txBody>
      </p:sp>
      <p:sp>
        <p:nvSpPr>
          <p:cNvPr id="12" name="Text 6"/>
          <p:cNvSpPr/>
          <p:nvPr/>
        </p:nvSpPr>
        <p:spPr>
          <a:xfrm>
            <a:off x="11873810" y="7361950"/>
            <a:ext cx="1396919" cy="495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dirty="0">
                <a:solidFill>
                  <a:srgbClr val="1B1E1A">
                    <a:alpha val="100000"/>
                  </a:srgbClr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Calm UI</a:t>
            </a:r>
            <a:endParaRPr lang="en-US" sz="2700" dirty="0"/>
          </a:p>
        </p:txBody>
      </p:sp>
      <p:sp>
        <p:nvSpPr>
          <p:cNvPr id="13" name="Text 7"/>
          <p:cNvSpPr/>
          <p:nvPr/>
        </p:nvSpPr>
        <p:spPr>
          <a:xfrm>
            <a:off x="6590917" y="7903986"/>
            <a:ext cx="4021433" cy="94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113"/>
              </a:lnSpc>
              <a:buNone/>
            </a:pPr>
            <a:r>
              <a:rPr lang="en-US" sz="2300" dirty="0">
                <a:solidFill>
                  <a:srgbClr val="2C312A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Built on PocketBase for data</a:t>
            </a:r>
            <a:endParaRPr lang="en-US" sz="2300" dirty="0"/>
          </a:p>
          <a:p>
            <a:pPr marL="0" indent="0" algn="l">
              <a:lnSpc>
                <a:spcPts val="3113"/>
              </a:lnSpc>
              <a:buNone/>
            </a:pPr>
            <a:r>
              <a:rPr lang="en-US" sz="2300" dirty="0">
                <a:solidFill>
                  <a:srgbClr val="2C312A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security.</a:t>
            </a:r>
            <a:endParaRPr lang="en-US" sz="2300" dirty="0"/>
          </a:p>
        </p:txBody>
      </p:sp>
      <p:sp>
        <p:nvSpPr>
          <p:cNvPr id="14" name="Text 8"/>
          <p:cNvSpPr/>
          <p:nvPr/>
        </p:nvSpPr>
        <p:spPr>
          <a:xfrm>
            <a:off x="6590917" y="7338659"/>
            <a:ext cx="3691252" cy="580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242823">
                    <a:alpha val="100000"/>
                  </a:srgbClr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Privacy-first Backend</a:t>
            </a:r>
            <a:endParaRPr lang="en-US" sz="2600" dirty="0"/>
          </a:p>
        </p:txBody>
      </p:sp>
      <p:sp>
        <p:nvSpPr>
          <p:cNvPr id="15" name="Text 9"/>
          <p:cNvSpPr/>
          <p:nvPr/>
        </p:nvSpPr>
        <p:spPr>
          <a:xfrm>
            <a:off x="1320723" y="7916690"/>
            <a:ext cx="4173824" cy="935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919"/>
              </a:lnSpc>
              <a:buNone/>
            </a:pPr>
            <a:r>
              <a:rPr lang="en-US" sz="2300" dirty="0">
                <a:solidFill>
                  <a:srgbClr val="333731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Pre-built presets for</a:t>
            </a:r>
            <a:endParaRPr lang="en-US" sz="2300" dirty="0"/>
          </a:p>
          <a:p>
            <a:pPr marL="0" indent="0" algn="l">
              <a:lnSpc>
                <a:spcPts val="2919"/>
              </a:lnSpc>
              <a:buNone/>
            </a:pPr>
            <a:r>
              <a:rPr lang="en-US" sz="2300" dirty="0">
                <a:solidFill>
                  <a:srgbClr val="333731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E-commerce and Counseling.</a:t>
            </a:r>
            <a:endParaRPr lang="en-US" sz="2300" dirty="0"/>
          </a:p>
        </p:txBody>
      </p:sp>
      <p:sp>
        <p:nvSpPr>
          <p:cNvPr id="16" name="Text 10"/>
          <p:cNvSpPr/>
          <p:nvPr/>
        </p:nvSpPr>
        <p:spPr>
          <a:xfrm>
            <a:off x="1308024" y="7336542"/>
            <a:ext cx="2514454" cy="597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dirty="0">
                <a:solidFill>
                  <a:srgbClr val="222520">
                    <a:alpha val="100000"/>
                  </a:srgbClr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Template-first</a:t>
            </a:r>
            <a:endParaRPr lang="en-US" sz="2700" dirty="0"/>
          </a:p>
        </p:txBody>
      </p:sp>
      <p:sp>
        <p:nvSpPr>
          <p:cNvPr id="17" name="Shape 11"/>
          <p:cNvSpPr/>
          <p:nvPr/>
        </p:nvSpPr>
        <p:spPr>
          <a:xfrm>
            <a:off x="0" y="0"/>
            <a:ext cx="17474184" cy="705070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8" name="Image 4" descr=" 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46924" y="2667833"/>
            <a:ext cx="3314507" cy="3315736"/>
          </a:xfrm>
          <a:prstGeom prst="rect">
            <a:avLst/>
          </a:prstGeom>
        </p:spPr>
      </p:pic>
      <p:pic>
        <p:nvPicPr>
          <p:cNvPr id="19" name="Image 5" descr=" 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81566" y="2667833"/>
            <a:ext cx="3276410" cy="3315736"/>
          </a:xfrm>
          <a:prstGeom prst="rect">
            <a:avLst/>
          </a:prstGeom>
        </p:spPr>
      </p:pic>
      <p:pic>
        <p:nvPicPr>
          <p:cNvPr id="20" name="Image 6" descr=" 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419878" y="4179606"/>
            <a:ext cx="914347" cy="279487"/>
          </a:xfrm>
          <a:prstGeom prst="rect">
            <a:avLst/>
          </a:prstGeom>
        </p:spPr>
      </p:pic>
      <p:pic>
        <p:nvPicPr>
          <p:cNvPr id="21" name="Image 7" descr=" 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90810" y="2667833"/>
            <a:ext cx="3301808" cy="3315736"/>
          </a:xfrm>
          <a:prstGeom prst="rect">
            <a:avLst/>
          </a:prstGeom>
        </p:spPr>
      </p:pic>
      <p:pic>
        <p:nvPicPr>
          <p:cNvPr id="22" name="Image 8" descr=" 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54520" y="4217718"/>
            <a:ext cx="914347" cy="241375"/>
          </a:xfrm>
          <a:prstGeom prst="rect">
            <a:avLst/>
          </a:prstGeom>
        </p:spPr>
      </p:pic>
      <p:pic>
        <p:nvPicPr>
          <p:cNvPr id="23" name="Image 9" descr=" 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5452" y="2667833"/>
            <a:ext cx="3314507" cy="3315736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13848545" y="4262182"/>
            <a:ext cx="2336664" cy="838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931"/>
              </a:lnSpc>
              <a:buNone/>
            </a:pPr>
            <a:r>
              <a:rPr lang="en-US" sz="2100" dirty="0">
                <a:solidFill>
                  <a:srgbClr val="BCC9B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Follow-ups, Tags,</a:t>
            </a:r>
            <a:endParaRPr lang="en-US" sz="2100" dirty="0"/>
          </a:p>
          <a:p>
            <a:pPr marL="0" indent="0" algn="ctr">
              <a:lnSpc>
                <a:spcPts val="2931"/>
              </a:lnSpc>
              <a:buNone/>
            </a:pPr>
            <a:r>
              <a:rPr lang="en-US" sz="2100" dirty="0">
                <a:solidFill>
                  <a:srgbClr val="BCC9B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Reporting</a:t>
            </a:r>
            <a:endParaRPr lang="en-US" sz="2100" dirty="0"/>
          </a:p>
        </p:txBody>
      </p:sp>
      <p:sp>
        <p:nvSpPr>
          <p:cNvPr id="25" name="Text 13"/>
          <p:cNvSpPr/>
          <p:nvPr/>
        </p:nvSpPr>
        <p:spPr>
          <a:xfrm>
            <a:off x="14337466" y="3595223"/>
            <a:ext cx="1523911" cy="660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CCD5CE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Retain</a:t>
            </a:r>
            <a:endParaRPr lang="en-US" sz="3600" dirty="0"/>
          </a:p>
        </p:txBody>
      </p:sp>
      <p:sp>
        <p:nvSpPr>
          <p:cNvPr id="26" name="Text 14"/>
          <p:cNvSpPr/>
          <p:nvPr/>
        </p:nvSpPr>
        <p:spPr>
          <a:xfrm>
            <a:off x="9651439" y="4630597"/>
            <a:ext cx="2450957" cy="431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BAC7BD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Task Management</a:t>
            </a:r>
            <a:endParaRPr lang="en-US" sz="2100" dirty="0"/>
          </a:p>
        </p:txBody>
      </p:sp>
      <p:sp>
        <p:nvSpPr>
          <p:cNvPr id="27" name="Text 15"/>
          <p:cNvSpPr/>
          <p:nvPr/>
        </p:nvSpPr>
        <p:spPr>
          <a:xfrm>
            <a:off x="9880026" y="4287589"/>
            <a:ext cx="2006483" cy="419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BCC9C0">
                    <a:alpha val="100000"/>
                  </a:srgbClr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Deal Pipeline +</a:t>
            </a:r>
            <a:endParaRPr lang="en-US" sz="2100" dirty="0"/>
          </a:p>
        </p:txBody>
      </p:sp>
      <p:sp>
        <p:nvSpPr>
          <p:cNvPr id="28" name="Text 16"/>
          <p:cNvSpPr/>
          <p:nvPr/>
        </p:nvSpPr>
        <p:spPr>
          <a:xfrm>
            <a:off x="9968920" y="3595223"/>
            <a:ext cx="1930288" cy="660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C5CFC6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Convert</a:t>
            </a:r>
            <a:endParaRPr lang="en-US" sz="3600" dirty="0"/>
          </a:p>
        </p:txBody>
      </p:sp>
      <p:sp>
        <p:nvSpPr>
          <p:cNvPr id="29" name="Text 17"/>
          <p:cNvSpPr/>
          <p:nvPr/>
        </p:nvSpPr>
        <p:spPr>
          <a:xfrm>
            <a:off x="6108345" y="4656005"/>
            <a:ext cx="1193731" cy="3684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ABB9A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Timeline</a:t>
            </a:r>
            <a:endParaRPr lang="en-US" sz="2100" dirty="0"/>
          </a:p>
        </p:txBody>
      </p:sp>
      <p:sp>
        <p:nvSpPr>
          <p:cNvPr id="30" name="Text 18"/>
          <p:cNvSpPr/>
          <p:nvPr/>
        </p:nvSpPr>
        <p:spPr>
          <a:xfrm>
            <a:off x="5638472" y="4287589"/>
            <a:ext cx="2146175" cy="4446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C3CFC6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Notes + Activity</a:t>
            </a:r>
            <a:endParaRPr lang="en-US" sz="2100" dirty="0"/>
          </a:p>
        </p:txBody>
      </p:sp>
      <p:sp>
        <p:nvSpPr>
          <p:cNvPr id="31" name="Text 19"/>
          <p:cNvSpPr/>
          <p:nvPr/>
        </p:nvSpPr>
        <p:spPr>
          <a:xfrm>
            <a:off x="5905157" y="3595223"/>
            <a:ext cx="1701701" cy="724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CCD5CE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Qualify</a:t>
            </a:r>
            <a:endParaRPr lang="en-US" sz="3600" dirty="0"/>
          </a:p>
        </p:txBody>
      </p:sp>
      <p:sp>
        <p:nvSpPr>
          <p:cNvPr id="32" name="Text 20"/>
          <p:cNvSpPr/>
          <p:nvPr/>
        </p:nvSpPr>
        <p:spPr>
          <a:xfrm>
            <a:off x="1904889" y="4999012"/>
            <a:ext cx="1269926" cy="3684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B1BFB6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Contacts</a:t>
            </a:r>
            <a:endParaRPr lang="en-US" sz="2100" dirty="0"/>
          </a:p>
        </p:txBody>
      </p:sp>
      <p:sp>
        <p:nvSpPr>
          <p:cNvPr id="33" name="Text 21"/>
          <p:cNvSpPr/>
          <p:nvPr/>
        </p:nvSpPr>
        <p:spPr>
          <a:xfrm>
            <a:off x="1555660" y="4274885"/>
            <a:ext cx="1917589" cy="77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463"/>
              </a:lnSpc>
              <a:buNone/>
            </a:pPr>
            <a:r>
              <a:rPr lang="en-US" sz="2100" dirty="0">
                <a:solidFill>
                  <a:srgbClr val="A9B6AD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Leads</a:t>
            </a:r>
            <a:endParaRPr lang="en-US" sz="2100" dirty="0"/>
          </a:p>
          <a:p>
            <a:pPr marL="0" indent="0" algn="ctr">
              <a:lnSpc>
                <a:spcPts val="2463"/>
              </a:lnSpc>
              <a:buNone/>
            </a:pPr>
            <a:r>
              <a:rPr lang="en-US" sz="2100" dirty="0">
                <a:solidFill>
                  <a:srgbClr val="A9B6AD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Import/Create</a:t>
            </a:r>
            <a:endParaRPr lang="en-US" sz="2100" dirty="0"/>
          </a:p>
        </p:txBody>
      </p:sp>
      <p:sp>
        <p:nvSpPr>
          <p:cNvPr id="34" name="Text 22"/>
          <p:cNvSpPr/>
          <p:nvPr/>
        </p:nvSpPr>
        <p:spPr>
          <a:xfrm>
            <a:off x="1625505" y="3607927"/>
            <a:ext cx="1917589" cy="698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CED6CE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Capture</a:t>
            </a:r>
            <a:endParaRPr lang="en-US" sz="3600" dirty="0"/>
          </a:p>
        </p:txBody>
      </p:sp>
      <p:pic>
        <p:nvPicPr>
          <p:cNvPr id="38" name="Image 1" descr=" ">
            <a:extLst>
              <a:ext uri="{FF2B5EF4-FFF2-40B4-BE49-F238E27FC236}">
                <a16:creationId xmlns:a16="http://schemas.microsoft.com/office/drawing/2014/main" id="{48844B0E-302C-EBB0-48EA-2A26F663167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657176" y="8912481"/>
            <a:ext cx="816437" cy="844167"/>
          </a:xfrm>
          <a:prstGeom prst="rect">
            <a:avLst/>
          </a:prstGeom>
        </p:spPr>
      </p:pic>
      <p:sp>
        <p:nvSpPr>
          <p:cNvPr id="39" name="Text 30">
            <a:extLst>
              <a:ext uri="{FF2B5EF4-FFF2-40B4-BE49-F238E27FC236}">
                <a16:creationId xmlns:a16="http://schemas.microsoft.com/office/drawing/2014/main" id="{A1DD6345-A937-9185-87F6-691FED8F8521}"/>
              </a:ext>
            </a:extLst>
          </p:cNvPr>
          <p:cNvSpPr/>
          <p:nvPr/>
        </p:nvSpPr>
        <p:spPr>
          <a:xfrm>
            <a:off x="990541" y="817289"/>
            <a:ext cx="14202567" cy="117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3E5142">
                    <a:alpha val="100000"/>
                  </a:srgbClr>
                </a:solidFill>
                <a:latin typeface="EB Garamond Bold" pitchFamily="34" charset="0"/>
                <a:ea typeface="EB Garamond Bold" pitchFamily="34" charset="-122"/>
                <a:cs typeface="EB Garamond Bold" pitchFamily="34" charset="-120"/>
              </a:rPr>
              <a:t>Solution Overview: The Core Workflow</a:t>
            </a:r>
            <a:endParaRPr lang="en-US" sz="64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474184" cy="9756648"/>
          </a:xfrm>
          <a:prstGeom prst="rect">
            <a:avLst/>
          </a:prstGeom>
          <a:solidFill>
            <a:srgbClr val="EBECE4">
              <a:alpha val="10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39692" y="63520"/>
            <a:ext cx="17474184" cy="975664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Shape 32"/>
          <p:cNvSpPr/>
          <p:nvPr/>
        </p:nvSpPr>
        <p:spPr>
          <a:xfrm>
            <a:off x="6590917" y="7114222"/>
            <a:ext cx="4038365" cy="161340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3" name="Shape 38"/>
          <p:cNvSpPr/>
          <p:nvPr/>
        </p:nvSpPr>
        <p:spPr>
          <a:xfrm>
            <a:off x="4546336" y="4433685"/>
            <a:ext cx="1955686" cy="430664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5" name="Shape 39"/>
          <p:cNvSpPr/>
          <p:nvPr/>
        </p:nvSpPr>
        <p:spPr>
          <a:xfrm>
            <a:off x="4546336" y="8321100"/>
            <a:ext cx="1930288" cy="41923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6" name="Shape 75"/>
          <p:cNvSpPr/>
          <p:nvPr/>
        </p:nvSpPr>
        <p:spPr>
          <a:xfrm>
            <a:off x="4546336" y="6212241"/>
            <a:ext cx="1917589" cy="38111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0" name="Shape 82"/>
          <p:cNvSpPr/>
          <p:nvPr/>
        </p:nvSpPr>
        <p:spPr>
          <a:xfrm>
            <a:off x="4546336" y="5793010"/>
            <a:ext cx="1917589" cy="39382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1" name="Shape 88"/>
          <p:cNvSpPr/>
          <p:nvPr/>
        </p:nvSpPr>
        <p:spPr>
          <a:xfrm>
            <a:off x="4559035" y="5373779"/>
            <a:ext cx="1904889" cy="38111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4" name="Shape 94"/>
          <p:cNvSpPr/>
          <p:nvPr/>
        </p:nvSpPr>
        <p:spPr>
          <a:xfrm>
            <a:off x="4546336" y="4941844"/>
            <a:ext cx="1917589" cy="39382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08" name="图片 307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27E94B2C-EF58-C142-B245-2E56FF6877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5904" y="1784807"/>
            <a:ext cx="8928605" cy="653299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99" name="Image 120" descr=" "/>
          <p:cNvPicPr>
            <a:picLocks noChangeAspect="1"/>
          </p:cNvPicPr>
          <p:nvPr/>
        </p:nvPicPr>
        <p:blipFill>
          <a:blip r:embed="rId4"/>
          <a:srcRect t="2" r="23372" b="-2"/>
          <a:stretch>
            <a:fillRect/>
          </a:stretch>
        </p:blipFill>
        <p:spPr>
          <a:xfrm>
            <a:off x="2058327" y="5361576"/>
            <a:ext cx="1610948" cy="45719"/>
          </a:xfrm>
          <a:prstGeom prst="rect">
            <a:avLst/>
          </a:prstGeom>
        </p:spPr>
      </p:pic>
      <p:sp>
        <p:nvSpPr>
          <p:cNvPr id="302" name="Text 178"/>
          <p:cNvSpPr/>
          <p:nvPr/>
        </p:nvSpPr>
        <p:spPr>
          <a:xfrm>
            <a:off x="6939908" y="8495653"/>
            <a:ext cx="1722866" cy="402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596458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Activity Feed</a:t>
            </a:r>
            <a:endParaRPr lang="en-US" sz="2000" b="1" dirty="0"/>
          </a:p>
        </p:txBody>
      </p:sp>
      <p:sp>
        <p:nvSpPr>
          <p:cNvPr id="303" name="Text 179"/>
          <p:cNvSpPr/>
          <p:nvPr/>
        </p:nvSpPr>
        <p:spPr>
          <a:xfrm>
            <a:off x="14118285" y="5890407"/>
            <a:ext cx="2383228" cy="414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465446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Task Management</a:t>
            </a:r>
            <a:endParaRPr lang="en-US" sz="2000" b="1" dirty="0"/>
          </a:p>
        </p:txBody>
      </p:sp>
      <p:sp>
        <p:nvSpPr>
          <p:cNvPr id="304" name="Text 180"/>
          <p:cNvSpPr/>
          <p:nvPr/>
        </p:nvSpPr>
        <p:spPr>
          <a:xfrm>
            <a:off x="621691" y="5166281"/>
            <a:ext cx="1722866" cy="389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5C675A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Hot Contacts</a:t>
            </a:r>
            <a:endParaRPr lang="en-US" sz="2000" b="1" dirty="0"/>
          </a:p>
        </p:txBody>
      </p:sp>
      <p:sp>
        <p:nvSpPr>
          <p:cNvPr id="305" name="Text 181"/>
          <p:cNvSpPr/>
          <p:nvPr/>
        </p:nvSpPr>
        <p:spPr>
          <a:xfrm>
            <a:off x="14235633" y="3064205"/>
            <a:ext cx="2319732" cy="440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D493C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Pipeline Snapshot</a:t>
            </a:r>
            <a:endParaRPr lang="en-US" sz="2000" b="1" dirty="0"/>
          </a:p>
        </p:txBody>
      </p:sp>
      <p:sp>
        <p:nvSpPr>
          <p:cNvPr id="306" name="Text 182"/>
          <p:cNvSpPr/>
          <p:nvPr/>
        </p:nvSpPr>
        <p:spPr>
          <a:xfrm>
            <a:off x="4508238" y="514511"/>
            <a:ext cx="8737092" cy="1156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700" b="1" dirty="0">
                <a:solidFill>
                  <a:srgbClr val="465849">
                    <a:alpha val="100000"/>
                  </a:srgbClr>
                </a:solidFill>
                <a:latin typeface="EB Garamond Bold" pitchFamily="34" charset="0"/>
                <a:ea typeface="EB Garamond Bold" pitchFamily="34" charset="-122"/>
                <a:cs typeface="EB Garamond Bold" pitchFamily="34" charset="-120"/>
              </a:rPr>
              <a:t>A Calm, Unified Workspace</a:t>
            </a:r>
            <a:endParaRPr lang="en-US" sz="5700" b="1" dirty="0"/>
          </a:p>
        </p:txBody>
      </p:sp>
      <p:pic>
        <p:nvPicPr>
          <p:cNvPr id="309" name="Image 120" descr=" ">
            <a:extLst>
              <a:ext uri="{FF2B5EF4-FFF2-40B4-BE49-F238E27FC236}">
                <a16:creationId xmlns:a16="http://schemas.microsoft.com/office/drawing/2014/main" id="{7658E27B-9DA6-0362-6081-7033E5F8B3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68493" y="3238688"/>
            <a:ext cx="2102289" cy="45719"/>
          </a:xfrm>
          <a:prstGeom prst="rect">
            <a:avLst/>
          </a:prstGeom>
        </p:spPr>
      </p:pic>
      <p:pic>
        <p:nvPicPr>
          <p:cNvPr id="313" name="Image 1" descr=" ">
            <a:extLst>
              <a:ext uri="{FF2B5EF4-FFF2-40B4-BE49-F238E27FC236}">
                <a16:creationId xmlns:a16="http://schemas.microsoft.com/office/drawing/2014/main" id="{954D2380-C8B1-DED0-47FD-808916DC1D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57176" y="8912481"/>
            <a:ext cx="816437" cy="844167"/>
          </a:xfrm>
          <a:prstGeom prst="rect">
            <a:avLst/>
          </a:prstGeom>
        </p:spPr>
      </p:pic>
      <p:pic>
        <p:nvPicPr>
          <p:cNvPr id="314" name="Image 120" descr=" ">
            <a:extLst>
              <a:ext uri="{FF2B5EF4-FFF2-40B4-BE49-F238E27FC236}">
                <a16:creationId xmlns:a16="http://schemas.microsoft.com/office/drawing/2014/main" id="{EBE4D789-60AB-FA15-C192-14E84B3842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68492" y="6097905"/>
            <a:ext cx="2102289" cy="45719"/>
          </a:xfrm>
          <a:prstGeom prst="rect">
            <a:avLst/>
          </a:prstGeom>
        </p:spPr>
      </p:pic>
      <p:pic>
        <p:nvPicPr>
          <p:cNvPr id="4" name="Image 120" descr=" ">
            <a:extLst>
              <a:ext uri="{FF2B5EF4-FFF2-40B4-BE49-F238E27FC236}">
                <a16:creationId xmlns:a16="http://schemas.microsoft.com/office/drawing/2014/main" id="{FD1C6A45-61FF-A99A-210F-91A7424E831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0004" r="71981" b="-100004"/>
          <a:stretch>
            <a:fillRect/>
          </a:stretch>
        </p:blipFill>
        <p:spPr>
          <a:xfrm>
            <a:off x="2210727" y="5559695"/>
            <a:ext cx="589034" cy="4571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474184" cy="975664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 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474184" cy="975664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8816554"/>
            <a:ext cx="17474184" cy="94009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3"/>
          <p:cNvSpPr/>
          <p:nvPr/>
        </p:nvSpPr>
        <p:spPr>
          <a:xfrm>
            <a:off x="596865" y="0"/>
            <a:ext cx="16864619" cy="875303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4"/>
          <p:cNvSpPr/>
          <p:nvPr/>
        </p:nvSpPr>
        <p:spPr>
          <a:xfrm>
            <a:off x="12267487" y="2439162"/>
            <a:ext cx="5193998" cy="645361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5"/>
          <p:cNvSpPr/>
          <p:nvPr/>
        </p:nvSpPr>
        <p:spPr>
          <a:xfrm>
            <a:off x="13092939" y="8232172"/>
            <a:ext cx="2980093" cy="6224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113"/>
              </a:lnSpc>
            </a:pPr>
            <a:r>
              <a:rPr lang="en-US" altLang="zh-CN" dirty="0">
                <a:solidFill>
                  <a:srgbClr val="51534E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One-click</a:t>
            </a:r>
            <a:r>
              <a:rPr lang="en-US" altLang="zh-CN" dirty="0"/>
              <a:t> </a:t>
            </a:r>
            <a:r>
              <a:rPr lang="en-US" sz="1800" dirty="0">
                <a:solidFill>
                  <a:srgbClr val="555651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reset to default industry</a:t>
            </a:r>
            <a:r>
              <a:rPr lang="en-US" dirty="0"/>
              <a:t> </a:t>
            </a:r>
            <a:r>
              <a:rPr lang="en-US" sz="1800" dirty="0">
                <a:solidFill>
                  <a:srgbClr val="555651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standards.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3092939" y="7903986"/>
            <a:ext cx="1926055" cy="364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434440">
                    <a:alpha val="10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Reset Capability:</a:t>
            </a:r>
            <a:endParaRPr lang="en-US" b="1" dirty="0"/>
          </a:p>
        </p:txBody>
      </p:sp>
      <p:pic>
        <p:nvPicPr>
          <p:cNvPr id="12" name="Image 2" descr=" 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89751" y="8041612"/>
            <a:ext cx="101594" cy="1016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088480" y="7036383"/>
            <a:ext cx="2793838" cy="724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281"/>
              </a:lnSpc>
            </a:pPr>
            <a:r>
              <a:rPr lang="en-US" altLang="zh-CN" dirty="0">
                <a:solidFill>
                  <a:srgbClr val="595A55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Users can save</a:t>
            </a:r>
            <a:r>
              <a:rPr lang="en-US" altLang="zh-CN" dirty="0"/>
              <a:t> </a:t>
            </a:r>
            <a:r>
              <a:rPr lang="en-US" sz="1800" dirty="0">
                <a:solidFill>
                  <a:srgbClr val="575853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current configurations as</a:t>
            </a:r>
            <a:r>
              <a:rPr lang="en-US" dirty="0"/>
              <a:t> </a:t>
            </a:r>
            <a:r>
              <a:rPr lang="en-US" sz="1800" dirty="0">
                <a:solidFill>
                  <a:srgbClr val="575853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reusable templates.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13092939" y="6658997"/>
            <a:ext cx="1735566" cy="364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434440">
                    <a:alpha val="10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Customization:</a:t>
            </a:r>
            <a:endParaRPr lang="en-US" b="1" dirty="0"/>
          </a:p>
        </p:txBody>
      </p:sp>
      <p:pic>
        <p:nvPicPr>
          <p:cNvPr id="16" name="Image 3" descr=" 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77051" y="6809327"/>
            <a:ext cx="114293" cy="1016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448518" y="5450003"/>
            <a:ext cx="3149417" cy="990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31"/>
              </a:lnSpc>
              <a:buNone/>
            </a:pPr>
            <a:r>
              <a:rPr lang="en-US" sz="1800" dirty="0">
                <a:solidFill>
                  <a:srgbClr val="5A5C57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Cross-border E-commerce:</a:t>
            </a:r>
            <a:endParaRPr lang="en-US" sz="1800" dirty="0"/>
          </a:p>
          <a:p>
            <a:pPr marL="0" indent="0" algn="l">
              <a:lnSpc>
                <a:spcPts val="2331"/>
              </a:lnSpc>
              <a:buNone/>
            </a:pPr>
            <a:r>
              <a:rPr lang="en-US" sz="1800" dirty="0">
                <a:solidFill>
                  <a:srgbClr val="5A5C57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Transactional (Lead  Quote</a:t>
            </a:r>
            <a:endParaRPr lang="en-US" sz="1800" dirty="0"/>
          </a:p>
          <a:p>
            <a:pPr marL="0" indent="0" algn="l">
              <a:lnSpc>
                <a:spcPts val="2331"/>
              </a:lnSpc>
              <a:buNone/>
            </a:pPr>
            <a:r>
              <a:rPr lang="en-US" sz="1800" dirty="0">
                <a:solidFill>
                  <a:srgbClr val="5A5C57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Order).</a:t>
            </a:r>
            <a:endParaRPr lang="en-US" sz="1800" dirty="0"/>
          </a:p>
        </p:txBody>
      </p:sp>
      <p:pic>
        <p:nvPicPr>
          <p:cNvPr id="18" name="Image 4" descr=" 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45330" y="5577042"/>
            <a:ext cx="88895" cy="10163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3435819" y="4522613"/>
            <a:ext cx="2637213" cy="940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53555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Counseling Practice: Care-</a:t>
            </a:r>
            <a:endParaRPr lang="en-US" sz="18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53555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focused (Inquiry</a:t>
            </a:r>
            <a:endParaRPr lang="en-US" sz="18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53555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Assessment → Care plan).</a:t>
            </a:r>
            <a:endParaRPr lang="en-US" sz="1800" dirty="0"/>
          </a:p>
        </p:txBody>
      </p:sp>
      <p:pic>
        <p:nvPicPr>
          <p:cNvPr id="20" name="Image 5" descr=" 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45330" y="4649653"/>
            <a:ext cx="88895" cy="10163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3435819" y="3595223"/>
            <a:ext cx="2641446" cy="940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575954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General CRM: Standard</a:t>
            </a:r>
            <a:endParaRPr lang="en-US" sz="18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575954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lifecycle (Opportunity</a:t>
            </a:r>
            <a:endParaRPr lang="en-US" sz="18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575954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Won).</a:t>
            </a:r>
            <a:endParaRPr lang="en-US" sz="1800" dirty="0"/>
          </a:p>
        </p:txBody>
      </p:sp>
      <p:pic>
        <p:nvPicPr>
          <p:cNvPr id="22" name="Image 6" descr=" 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245330" y="3734967"/>
            <a:ext cx="88895" cy="8892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3092939" y="3279741"/>
            <a:ext cx="1938754" cy="351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41423F">
                    <a:alpha val="10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Industry Presets:</a:t>
            </a:r>
            <a:endParaRPr lang="en-US" b="1" dirty="0"/>
          </a:p>
        </p:txBody>
      </p:sp>
      <p:pic>
        <p:nvPicPr>
          <p:cNvPr id="24" name="Image 7" descr=" 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877051" y="3417368"/>
            <a:ext cx="114293" cy="101632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12864352" y="2509034"/>
            <a:ext cx="2412860" cy="6351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546154">
                    <a:alpha val="100000"/>
                  </a:srgbClr>
                </a:solidFill>
                <a:latin typeface="EB Garamond Bold" pitchFamily="34" charset="0"/>
                <a:ea typeface="EB Garamond Bold" pitchFamily="34" charset="-122"/>
                <a:cs typeface="EB Garamond Bold" pitchFamily="34" charset="-120"/>
              </a:rPr>
              <a:t>Key Features</a:t>
            </a:r>
            <a:endParaRPr lang="en-US" sz="3300" b="1" dirty="0"/>
          </a:p>
        </p:txBody>
      </p:sp>
      <p:sp>
        <p:nvSpPr>
          <p:cNvPr id="280" name="Shape 220"/>
          <p:cNvSpPr/>
          <p:nvPr/>
        </p:nvSpPr>
        <p:spPr>
          <a:xfrm>
            <a:off x="0" y="0"/>
            <a:ext cx="17474184" cy="252809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1" name="Text 221"/>
          <p:cNvSpPr/>
          <p:nvPr/>
        </p:nvSpPr>
        <p:spPr>
          <a:xfrm>
            <a:off x="3987568" y="764355"/>
            <a:ext cx="9824995" cy="10883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300" b="1" dirty="0">
                <a:solidFill>
                  <a:srgbClr val="49594C">
                    <a:alpha val="100000"/>
                  </a:srgbClr>
                </a:solidFill>
                <a:latin typeface="EB Garamond Bold" pitchFamily="34" charset="0"/>
                <a:ea typeface="EB Garamond Bold" pitchFamily="34" charset="-122"/>
                <a:cs typeface="EB Garamond Bold" pitchFamily="34" charset="-120"/>
              </a:rPr>
              <a:t>Innovation: The Template Center</a:t>
            </a:r>
            <a:endParaRPr lang="en-US" sz="5300" b="1" dirty="0"/>
          </a:p>
        </p:txBody>
      </p:sp>
      <p:pic>
        <p:nvPicPr>
          <p:cNvPr id="283" name="图片 282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03049E52-D28D-8B07-162E-A9ACC830C85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0245" y="2509034"/>
            <a:ext cx="7772400" cy="63802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85" name="图片 284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41B1A909-A125-67B3-A7A6-4F69777F84BF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24182" r="25482"/>
          <a:stretch>
            <a:fillRect/>
          </a:stretch>
        </p:blipFill>
        <p:spPr>
          <a:xfrm>
            <a:off x="8442645" y="2509034"/>
            <a:ext cx="4048970" cy="63802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87" name="Image 1" descr=" ">
            <a:extLst>
              <a:ext uri="{FF2B5EF4-FFF2-40B4-BE49-F238E27FC236}">
                <a16:creationId xmlns:a16="http://schemas.microsoft.com/office/drawing/2014/main" id="{9C56AFFC-D181-FF27-6DBC-828CA51046A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657176" y="8912481"/>
            <a:ext cx="816437" cy="84416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474184" cy="9756648"/>
          </a:xfrm>
          <a:prstGeom prst="rect">
            <a:avLst/>
          </a:prstGeom>
          <a:solidFill>
            <a:srgbClr val="EAEBE3">
              <a:alpha val="10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1619824" y="5450003"/>
            <a:ext cx="5841660" cy="430664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11619824" y="7129043"/>
            <a:ext cx="5448693" cy="474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accent6">
                    <a:lumMod val="50000"/>
                  </a:scheme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Backend:</a:t>
            </a:r>
            <a:r>
              <a:rPr lang="zh-TW" altLang="en-US" sz="2200" b="1" dirty="0">
                <a:solidFill>
                  <a:schemeClr val="accent6">
                    <a:lumMod val="50000"/>
                  </a:scheme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</a:t>
            </a:r>
            <a:r>
              <a:rPr lang="en-HK" altLang="zh-TW" sz="2200" dirty="0" err="1">
                <a:solidFill>
                  <a:schemeClr val="accent6">
                    <a:lumMod val="50000"/>
                  </a:scheme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PocketBase</a:t>
            </a:r>
            <a:r>
              <a:rPr lang="en-HK" altLang="zh-TW" sz="2200" dirty="0">
                <a:solidFill>
                  <a:schemeClr val="accent6">
                    <a:lumMod val="50000"/>
                  </a:scheme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(Golang) for</a:t>
            </a:r>
            <a:r>
              <a:rPr lang="zh-TW" altLang="en-US" sz="2200" dirty="0">
                <a:solidFill>
                  <a:schemeClr val="accent6">
                    <a:lumMod val="50000"/>
                  </a:scheme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</a:t>
            </a:r>
            <a:r>
              <a:rPr lang="en-US" altLang="zh-TW" sz="2200" dirty="0">
                <a:solidFill>
                  <a:schemeClr val="accent6">
                    <a:lumMod val="50000"/>
                  </a:scheme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performance/portability.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200" b="1" dirty="0">
                <a:solidFill>
                  <a:schemeClr val="accent6">
                    <a:lumMod val="50000"/>
                  </a:scheme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Frontend: </a:t>
            </a:r>
            <a:r>
              <a:rPr lang="en-US" altLang="zh-TW" sz="2200" dirty="0">
                <a:solidFill>
                  <a:schemeClr val="accent6">
                    <a:lumMod val="50000"/>
                  </a:scheme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Modern reactive web framework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200" b="1" dirty="0">
                <a:solidFill>
                  <a:schemeClr val="accent6">
                    <a:lumMod val="50000"/>
                  </a:scheme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Localization: </a:t>
            </a:r>
            <a:r>
              <a:rPr lang="en-US" altLang="zh-TW" sz="2200" dirty="0">
                <a:solidFill>
                  <a:schemeClr val="accent6">
                    <a:lumMod val="50000"/>
                  </a:scheme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Full EN/</a:t>
            </a:r>
            <a:r>
              <a:rPr lang="zh-TW" altLang="en-US" sz="2200" dirty="0">
                <a:solidFill>
                  <a:schemeClr val="accent6">
                    <a:lumMod val="50000"/>
                  </a:scheme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繁體</a:t>
            </a:r>
            <a:r>
              <a:rPr lang="en-US" altLang="zh-TW" sz="2200" dirty="0">
                <a:solidFill>
                  <a:schemeClr val="accent6">
                    <a:lumMod val="50000"/>
                  </a:scheme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/</a:t>
            </a:r>
            <a:r>
              <a:rPr lang="zh-TW" altLang="en-US" sz="2200" dirty="0">
                <a:solidFill>
                  <a:schemeClr val="accent6">
                    <a:lumMod val="50000"/>
                  </a:scheme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简体</a:t>
            </a:r>
            <a:r>
              <a:rPr lang="en-US" altLang="zh-TW" sz="2200" dirty="0">
                <a:solidFill>
                  <a:schemeClr val="accent6">
                    <a:lumMod val="50000"/>
                  </a:scheme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support</a:t>
            </a:r>
            <a:endParaRPr lang="en-HK" altLang="zh-TW" sz="2200" dirty="0">
              <a:solidFill>
                <a:schemeClr val="accent6">
                  <a:lumMod val="50000"/>
                </a:schemeClr>
              </a:solidFill>
              <a:latin typeface="Inter Bold" pitchFamily="34" charset="0"/>
              <a:ea typeface="Inter Bold" pitchFamily="34" charset="-122"/>
              <a:cs typeface="Inter Bold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5" name="Text 12"/>
          <p:cNvSpPr/>
          <p:nvPr/>
        </p:nvSpPr>
        <p:spPr>
          <a:xfrm>
            <a:off x="11962704" y="5570690"/>
            <a:ext cx="3299292" cy="673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546353">
                    <a:alpha val="100000"/>
                  </a:srgbClr>
                </a:solidFill>
                <a:latin typeface="EB Garamond Regular" pitchFamily="34" charset="0"/>
                <a:ea typeface="EB Garamond Regular" pitchFamily="34" charset="-122"/>
                <a:cs typeface="EB Garamond Regular" pitchFamily="34" charset="-120"/>
              </a:rPr>
              <a:t>Tech Stack</a:t>
            </a:r>
            <a:endParaRPr lang="en-US" sz="3900" b="1" dirty="0"/>
          </a:p>
        </p:txBody>
      </p:sp>
      <p:sp>
        <p:nvSpPr>
          <p:cNvPr id="250" name="Text 135"/>
          <p:cNvSpPr/>
          <p:nvPr/>
        </p:nvSpPr>
        <p:spPr>
          <a:xfrm>
            <a:off x="11636677" y="3296358"/>
            <a:ext cx="5303290" cy="1359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lnSpc>
                <a:spcPts val="3096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accent6">
                    <a:lumMod val="50000"/>
                  </a:scheme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Data Management (Contacts, Deals</a:t>
            </a:r>
            <a:r>
              <a:rPr lang="zh-TW" altLang="en-US" sz="2100" dirty="0">
                <a:solidFill>
                  <a:schemeClr val="accent6">
                    <a:lumMod val="50000"/>
                  </a:scheme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 </a:t>
            </a:r>
            <a:r>
              <a:rPr lang="en-US" sz="2100" dirty="0">
                <a:solidFill>
                  <a:schemeClr val="accent6">
                    <a:lumMod val="50000"/>
                  </a:scheme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Tasks), </a:t>
            </a:r>
          </a:p>
          <a:p>
            <a:pPr marL="342900" indent="-342900" algn="l">
              <a:lnSpc>
                <a:spcPts val="3096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accent6">
                    <a:lumMod val="50000"/>
                  </a:scheme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Organization (Tags, Filters),</a:t>
            </a:r>
            <a:endParaRPr lang="en-US" sz="2100" dirty="0">
              <a:solidFill>
                <a:schemeClr val="accent6">
                  <a:lumMod val="50000"/>
                </a:schemeClr>
              </a:solidFill>
            </a:endParaRPr>
          </a:p>
          <a:p>
            <a:pPr marL="342900" indent="-342900" algn="l">
              <a:lnSpc>
                <a:spcPts val="3096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accent6">
                    <a:lumMod val="50000"/>
                  </a:scheme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Security (OAuth, Password Reset).</a:t>
            </a:r>
            <a:endParaRPr lang="en-US" sz="21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51" name="Text 136"/>
          <p:cNvSpPr/>
          <p:nvPr/>
        </p:nvSpPr>
        <p:spPr>
          <a:xfrm>
            <a:off x="11962704" y="2644543"/>
            <a:ext cx="2268935" cy="630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500" b="1" dirty="0">
                <a:solidFill>
                  <a:srgbClr val="5A6859">
                    <a:alpha val="100000"/>
                  </a:srgbClr>
                </a:solidFill>
                <a:latin typeface="EB Garamond Bold" pitchFamily="34" charset="0"/>
                <a:ea typeface="EB Garamond Bold" pitchFamily="34" charset="-122"/>
                <a:cs typeface="EB Garamond Bold" pitchFamily="34" charset="-120"/>
              </a:rPr>
              <a:t>Feature Set</a:t>
            </a:r>
            <a:endParaRPr lang="en-US" sz="3500" b="1" dirty="0"/>
          </a:p>
        </p:txBody>
      </p:sp>
      <p:sp>
        <p:nvSpPr>
          <p:cNvPr id="291" name="Text 176"/>
          <p:cNvSpPr/>
          <p:nvPr/>
        </p:nvSpPr>
        <p:spPr>
          <a:xfrm>
            <a:off x="1003242" y="770707"/>
            <a:ext cx="12593434" cy="1266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0" b="1" dirty="0">
                <a:solidFill>
                  <a:srgbClr val="4E5E4F">
                    <a:alpha val="100000"/>
                  </a:srgbClr>
                </a:solidFill>
                <a:latin typeface="EB Garamond Bold" pitchFamily="34" charset="0"/>
                <a:ea typeface="EB Garamond Bold" pitchFamily="34" charset="-122"/>
                <a:cs typeface="EB Garamond Bold" pitchFamily="34" charset="-120"/>
              </a:rPr>
              <a:t>Core Product Modules &amp; Technology</a:t>
            </a:r>
            <a:endParaRPr lang="en-US" sz="6200" b="1" dirty="0"/>
          </a:p>
        </p:txBody>
      </p:sp>
      <p:pic>
        <p:nvPicPr>
          <p:cNvPr id="293" name="图片 292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B56FC5B3-8E5E-5983-CF00-EB82607BE3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17" y="1850975"/>
            <a:ext cx="8635202" cy="493929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95" name="图片 294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19AD3EE3-9FC3-62A3-D745-A3E5FF8BAE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1379" y="3797723"/>
            <a:ext cx="7772400" cy="539460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97" name="Image 1" descr=" ">
            <a:extLst>
              <a:ext uri="{FF2B5EF4-FFF2-40B4-BE49-F238E27FC236}">
                <a16:creationId xmlns:a16="http://schemas.microsoft.com/office/drawing/2014/main" id="{CC1B6694-B00F-B55B-FB46-B85433D0CA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57176" y="8912481"/>
            <a:ext cx="816437" cy="84416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474184" cy="975664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 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474184" cy="975664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7474184" cy="975664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5" name="Image 1" descr=" 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7474184" cy="9756648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63496" y="0"/>
            <a:ext cx="9803830" cy="515781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8" name="Image 3" descr=" 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18123" y="3709559"/>
            <a:ext cx="5676570" cy="4281237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9245062" y="4012337"/>
            <a:ext cx="677294" cy="398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4D4E49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2024</a:t>
            </a:r>
            <a:endParaRPr lang="en-US" sz="1900" dirty="0"/>
          </a:p>
        </p:txBody>
      </p:sp>
      <p:sp>
        <p:nvSpPr>
          <p:cNvPr id="10" name="Text 4"/>
          <p:cNvSpPr/>
          <p:nvPr/>
        </p:nvSpPr>
        <p:spPr>
          <a:xfrm>
            <a:off x="1104836" y="3322088"/>
            <a:ext cx="6883000" cy="151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4975"/>
              </a:lnSpc>
              <a:buNone/>
            </a:pPr>
            <a:r>
              <a:rPr lang="en-US" sz="3300" dirty="0">
                <a:solidFill>
                  <a:srgbClr val="282925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350k+ SMEs (98% of enterprises)</a:t>
            </a:r>
            <a:endParaRPr lang="en-US" sz="3300" dirty="0"/>
          </a:p>
          <a:p>
            <a:pPr marL="0" indent="0" algn="l">
              <a:lnSpc>
                <a:spcPts val="4975"/>
              </a:lnSpc>
              <a:buNone/>
            </a:pPr>
            <a:r>
              <a:rPr lang="en-US" sz="3300" dirty="0">
                <a:solidFill>
                  <a:srgbClr val="282925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~1.2M jobs (43% of employment)</a:t>
            </a:r>
            <a:endParaRPr lang="en-US" sz="3300" dirty="0"/>
          </a:p>
        </p:txBody>
      </p:sp>
      <p:sp>
        <p:nvSpPr>
          <p:cNvPr id="11" name="Text 5"/>
          <p:cNvSpPr/>
          <p:nvPr/>
        </p:nvSpPr>
        <p:spPr>
          <a:xfrm>
            <a:off x="1079437" y="2597962"/>
            <a:ext cx="5803563" cy="749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405845">
                    <a:alpha val="10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Target Market (Hong Kong)</a:t>
            </a:r>
            <a:endParaRPr lang="en-US" sz="3300" b="1" dirty="0"/>
          </a:p>
        </p:txBody>
      </p:sp>
      <p:sp>
        <p:nvSpPr>
          <p:cNvPr id="13" name="Text 7"/>
          <p:cNvSpPr/>
          <p:nvPr/>
        </p:nvSpPr>
        <p:spPr>
          <a:xfrm>
            <a:off x="15683588" y="7262435"/>
            <a:ext cx="935512" cy="402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52534E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262.7B</a:t>
            </a:r>
            <a:endParaRPr lang="en-US" sz="2000" dirty="0"/>
          </a:p>
        </p:txBody>
      </p:sp>
      <p:sp>
        <p:nvSpPr>
          <p:cNvPr id="14" name="Text 8"/>
          <p:cNvSpPr/>
          <p:nvPr/>
        </p:nvSpPr>
        <p:spPr>
          <a:xfrm>
            <a:off x="8521205" y="7266670"/>
            <a:ext cx="1396919" cy="406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3F413B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2032 (Proj.)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1092137" y="6290582"/>
            <a:ext cx="5723134" cy="732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500" dirty="0">
                <a:solidFill>
                  <a:srgbClr val="292A26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CAGR:~12.6%(2024-2032)</a:t>
            </a:r>
            <a:endParaRPr lang="en-US" sz="3500" dirty="0"/>
          </a:p>
        </p:txBody>
      </p:sp>
      <p:sp>
        <p:nvSpPr>
          <p:cNvPr id="16" name="Text 10"/>
          <p:cNvSpPr/>
          <p:nvPr/>
        </p:nvSpPr>
        <p:spPr>
          <a:xfrm>
            <a:off x="12521472" y="5636327"/>
            <a:ext cx="884715" cy="402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52524D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114.2B</a:t>
            </a:r>
            <a:endParaRPr lang="en-US" sz="2000" dirty="0"/>
          </a:p>
        </p:txBody>
      </p:sp>
      <p:sp>
        <p:nvSpPr>
          <p:cNvPr id="17" name="Text 11"/>
          <p:cNvSpPr/>
          <p:nvPr/>
        </p:nvSpPr>
        <p:spPr>
          <a:xfrm>
            <a:off x="9245062" y="5589746"/>
            <a:ext cx="525255" cy="406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3F403A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2025</a:t>
            </a:r>
            <a:endParaRPr lang="en-US" sz="1900" dirty="0"/>
          </a:p>
        </p:txBody>
      </p:sp>
      <p:sp>
        <p:nvSpPr>
          <p:cNvPr id="18" name="Text 12"/>
          <p:cNvSpPr/>
          <p:nvPr/>
        </p:nvSpPr>
        <p:spPr>
          <a:xfrm>
            <a:off x="1104836" y="5557986"/>
            <a:ext cx="5765465" cy="698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425845">
                    <a:alpha val="10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Global CRM Market Growth</a:t>
            </a:r>
            <a:endParaRPr lang="en-US" sz="3300" b="1" dirty="0"/>
          </a:p>
        </p:txBody>
      </p:sp>
      <p:sp>
        <p:nvSpPr>
          <p:cNvPr id="19" name="Text 13"/>
          <p:cNvSpPr/>
          <p:nvPr/>
        </p:nvSpPr>
        <p:spPr>
          <a:xfrm>
            <a:off x="12216690" y="3997516"/>
            <a:ext cx="884715" cy="414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42433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101.4B</a:t>
            </a:r>
            <a:endParaRPr lang="en-US" sz="2000" dirty="0"/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E115CE64-4EE4-21EF-F33E-B7BA8A44EC8E}"/>
              </a:ext>
            </a:extLst>
          </p:cNvPr>
          <p:cNvSpPr/>
          <p:nvPr/>
        </p:nvSpPr>
        <p:spPr>
          <a:xfrm>
            <a:off x="9245062" y="2719709"/>
            <a:ext cx="8380942" cy="507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405845">
                    <a:alpha val="10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Global CRM Market Size (USD Billions)</a:t>
            </a:r>
          </a:p>
        </p:txBody>
      </p:sp>
      <p:pic>
        <p:nvPicPr>
          <p:cNvPr id="24" name="Image 1" descr=" ">
            <a:extLst>
              <a:ext uri="{FF2B5EF4-FFF2-40B4-BE49-F238E27FC236}">
                <a16:creationId xmlns:a16="http://schemas.microsoft.com/office/drawing/2014/main" id="{42CA6BAA-6B16-4D6D-7978-B48D80B7F0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657176" y="8912481"/>
            <a:ext cx="816437" cy="844167"/>
          </a:xfrm>
          <a:prstGeom prst="rect">
            <a:avLst/>
          </a:prstGeom>
        </p:spPr>
      </p:pic>
      <p:sp>
        <p:nvSpPr>
          <p:cNvPr id="25" name="Text 176">
            <a:extLst>
              <a:ext uri="{FF2B5EF4-FFF2-40B4-BE49-F238E27FC236}">
                <a16:creationId xmlns:a16="http://schemas.microsoft.com/office/drawing/2014/main" id="{4A3665BB-1B11-FAAE-26A8-2C50057EBD8A}"/>
              </a:ext>
            </a:extLst>
          </p:cNvPr>
          <p:cNvSpPr/>
          <p:nvPr/>
        </p:nvSpPr>
        <p:spPr>
          <a:xfrm>
            <a:off x="1003242" y="770707"/>
            <a:ext cx="12593434" cy="1266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200" b="1" dirty="0">
                <a:solidFill>
                  <a:srgbClr val="4E5E4F">
                    <a:alpha val="100000"/>
                  </a:srgbClr>
                </a:solidFill>
                <a:latin typeface="EB Garamond Bold" pitchFamily="34" charset="0"/>
                <a:ea typeface="EB Garamond Bold" pitchFamily="34" charset="-122"/>
                <a:cs typeface="EB Garamond Bold" pitchFamily="34" charset="-120"/>
              </a:rPr>
              <a:t>Market Size &amp; Opportunity</a:t>
            </a:r>
            <a:endParaRPr lang="en-US" altLang="zh-CN" sz="60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474184" cy="9756648"/>
          </a:xfrm>
          <a:prstGeom prst="rect">
            <a:avLst/>
          </a:prstGeom>
          <a:solidFill>
            <a:srgbClr val="E9EBDD">
              <a:alpha val="10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7474184" cy="975664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" name="Image 0" descr=" 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474184" cy="975664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1442035" y="2553498"/>
            <a:ext cx="5092404" cy="631387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3"/>
          <p:cNvSpPr/>
          <p:nvPr/>
        </p:nvSpPr>
        <p:spPr>
          <a:xfrm>
            <a:off x="11480133" y="2591610"/>
            <a:ext cx="5016208" cy="6237649"/>
          </a:xfrm>
          <a:prstGeom prst="roundRect">
            <a:avLst>
              <a:gd name="adj" fmla="val 4740"/>
            </a:avLst>
          </a:prstGeom>
          <a:solidFill>
            <a:srgbClr val="F9FAF3">
              <a:alpha val="100000"/>
            </a:srgbClr>
          </a:solidFill>
          <a:ln w="12700">
            <a:solidFill>
              <a:srgbClr val="DDDED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8" name="Image 2" descr=" 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40494" y="7368302"/>
            <a:ext cx="114293" cy="114336"/>
          </a:xfrm>
          <a:prstGeom prst="rect">
            <a:avLst/>
          </a:prstGeom>
        </p:spPr>
      </p:pic>
      <p:pic>
        <p:nvPicPr>
          <p:cNvPr id="9" name="Image 3" descr=" 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40494" y="6555248"/>
            <a:ext cx="114293" cy="114336"/>
          </a:xfrm>
          <a:prstGeom prst="rect">
            <a:avLst/>
          </a:prstGeom>
        </p:spPr>
      </p:pic>
      <p:pic>
        <p:nvPicPr>
          <p:cNvPr id="10" name="Image 4" descr=" 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40494" y="6148721"/>
            <a:ext cx="114293" cy="114336"/>
          </a:xfrm>
          <a:prstGeom prst="rect">
            <a:avLst/>
          </a:prstGeom>
        </p:spPr>
      </p:pic>
      <p:pic>
        <p:nvPicPr>
          <p:cNvPr id="11" name="Image 5" descr=" 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000802" y="3379256"/>
            <a:ext cx="1041339" cy="1283101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12394479" y="7179860"/>
            <a:ext cx="3208680" cy="923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113"/>
              </a:lnSpc>
              <a:buNone/>
            </a:pPr>
            <a:r>
              <a:rPr lang="en-US" sz="2300" dirty="0">
                <a:solidFill>
                  <a:srgbClr val="474744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Retention &amp; Follow-up</a:t>
            </a:r>
            <a:endParaRPr lang="en-US" sz="2300" dirty="0"/>
          </a:p>
          <a:p>
            <a:pPr marL="0" indent="0" algn="l">
              <a:lnSpc>
                <a:spcPts val="3113"/>
              </a:lnSpc>
              <a:buNone/>
            </a:pPr>
            <a:r>
              <a:rPr lang="en-US" sz="2300" dirty="0">
                <a:solidFill>
                  <a:srgbClr val="474744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scheduling</a:t>
            </a:r>
            <a:endParaRPr lang="en-US" sz="2300" dirty="0"/>
          </a:p>
        </p:txBody>
      </p:sp>
      <p:sp>
        <p:nvSpPr>
          <p:cNvPr id="13" name="Text 5"/>
          <p:cNvSpPr/>
          <p:nvPr/>
        </p:nvSpPr>
        <p:spPr>
          <a:xfrm>
            <a:off x="12394479" y="6364688"/>
            <a:ext cx="3581192" cy="8765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036"/>
              </a:lnSpc>
              <a:buNone/>
            </a:pPr>
            <a:r>
              <a:rPr lang="en-US" sz="2400" dirty="0">
                <a:solidFill>
                  <a:srgbClr val="353633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Deal Tracking &amp; Pipeline</a:t>
            </a:r>
            <a:endParaRPr lang="en-US" sz="2400" dirty="0"/>
          </a:p>
          <a:p>
            <a:pPr marL="0" indent="0" algn="l">
              <a:lnSpc>
                <a:spcPts val="3036"/>
              </a:lnSpc>
              <a:buNone/>
            </a:pPr>
            <a:r>
              <a:rPr lang="en-US" sz="2400" dirty="0">
                <a:solidFill>
                  <a:srgbClr val="353633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Management</a:t>
            </a:r>
            <a:endParaRPr lang="en-US" sz="2400" dirty="0"/>
          </a:p>
        </p:txBody>
      </p:sp>
      <p:sp>
        <p:nvSpPr>
          <p:cNvPr id="14" name="Text 6"/>
          <p:cNvSpPr/>
          <p:nvPr/>
        </p:nvSpPr>
        <p:spPr>
          <a:xfrm>
            <a:off x="12394479" y="5909463"/>
            <a:ext cx="3843643" cy="516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dirty="0">
                <a:solidFill>
                  <a:srgbClr val="393936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Client Onboarding &amp; Intake</a:t>
            </a:r>
            <a:endParaRPr lang="en-US" sz="2300" dirty="0"/>
          </a:p>
        </p:txBody>
      </p:sp>
      <p:sp>
        <p:nvSpPr>
          <p:cNvPr id="15" name="Text 7"/>
          <p:cNvSpPr/>
          <p:nvPr/>
        </p:nvSpPr>
        <p:spPr>
          <a:xfrm>
            <a:off x="11899208" y="5113347"/>
            <a:ext cx="4063764" cy="825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dirty="0">
                <a:solidFill>
                  <a:srgbClr val="4F5F4F">
                    <a:alpha val="100000"/>
                  </a:srgbClr>
                </a:solidFill>
                <a:latin typeface="EB Garamond Bold" pitchFamily="34" charset="0"/>
                <a:ea typeface="EB Garamond Bold" pitchFamily="34" charset="-122"/>
                <a:cs typeface="EB Garamond Bold" pitchFamily="34" charset="-120"/>
              </a:rPr>
              <a:t>Primary Use Cases</a:t>
            </a:r>
            <a:endParaRPr lang="en-US" sz="3900" dirty="0"/>
          </a:p>
        </p:txBody>
      </p:sp>
      <p:sp>
        <p:nvSpPr>
          <p:cNvPr id="16" name="Shape 8"/>
          <p:cNvSpPr/>
          <p:nvPr/>
        </p:nvSpPr>
        <p:spPr>
          <a:xfrm>
            <a:off x="6209939" y="2528090"/>
            <a:ext cx="5079705" cy="641550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9"/>
          <p:cNvSpPr/>
          <p:nvPr/>
        </p:nvSpPr>
        <p:spPr>
          <a:xfrm>
            <a:off x="6222638" y="2604314"/>
            <a:ext cx="5016208" cy="6224945"/>
          </a:xfrm>
          <a:prstGeom prst="roundRect">
            <a:avLst>
              <a:gd name="adj" fmla="val 5286"/>
            </a:avLst>
          </a:prstGeom>
          <a:solidFill>
            <a:srgbClr val="F9FAF4">
              <a:alpha val="100000"/>
            </a:srgbClr>
          </a:solidFill>
          <a:ln w="50800">
            <a:solidFill>
              <a:srgbClr val="E1E3D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8" name="Image 6" descr=" 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1714" y="3531703"/>
            <a:ext cx="1523911" cy="952798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6641714" y="5896759"/>
            <a:ext cx="3881741" cy="1380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198"/>
              </a:lnSpc>
              <a:buNone/>
            </a:pPr>
            <a:r>
              <a:rPr lang="en-US" sz="2300" dirty="0">
                <a:solidFill>
                  <a:srgbClr val="373734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Founders, Sales Managers,</a:t>
            </a:r>
            <a:endParaRPr lang="en-US" sz="2300" dirty="0"/>
          </a:p>
          <a:p>
            <a:pPr marL="0" indent="0" algn="l">
              <a:lnSpc>
                <a:spcPts val="3198"/>
              </a:lnSpc>
              <a:buNone/>
            </a:pPr>
            <a:r>
              <a:rPr lang="en-US" sz="2300" dirty="0">
                <a:solidFill>
                  <a:srgbClr val="373734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Account Executives,</a:t>
            </a:r>
            <a:endParaRPr lang="en-US" sz="2300" dirty="0"/>
          </a:p>
          <a:p>
            <a:pPr marL="0" indent="0" algn="l">
              <a:lnSpc>
                <a:spcPts val="3198"/>
              </a:lnSpc>
              <a:buNone/>
            </a:pPr>
            <a:r>
              <a:rPr lang="en-US" sz="2300" dirty="0">
                <a:solidFill>
                  <a:srgbClr val="373734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Customer Support teams.</a:t>
            </a:r>
            <a:endParaRPr lang="en-US" sz="2300" dirty="0"/>
          </a:p>
        </p:txBody>
      </p:sp>
      <p:sp>
        <p:nvSpPr>
          <p:cNvPr id="20" name="Text 11"/>
          <p:cNvSpPr/>
          <p:nvPr/>
        </p:nvSpPr>
        <p:spPr>
          <a:xfrm>
            <a:off x="6641714" y="5098526"/>
            <a:ext cx="2315499" cy="7410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dirty="0">
                <a:solidFill>
                  <a:srgbClr val="516251">
                    <a:alpha val="100000"/>
                  </a:srgbClr>
                </a:solidFill>
                <a:latin typeface="EB Garamond Bold" pitchFamily="34" charset="0"/>
                <a:ea typeface="EB Garamond Bold" pitchFamily="34" charset="-122"/>
                <a:cs typeface="EB Garamond Bold" pitchFamily="34" charset="-120"/>
              </a:rPr>
              <a:t>End Users</a:t>
            </a:r>
            <a:endParaRPr lang="en-US" sz="4000" dirty="0"/>
          </a:p>
        </p:txBody>
      </p:sp>
      <p:sp>
        <p:nvSpPr>
          <p:cNvPr id="21" name="Shape 12"/>
          <p:cNvSpPr/>
          <p:nvPr/>
        </p:nvSpPr>
        <p:spPr>
          <a:xfrm>
            <a:off x="914347" y="2553498"/>
            <a:ext cx="5092404" cy="631387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13"/>
          <p:cNvSpPr/>
          <p:nvPr/>
        </p:nvSpPr>
        <p:spPr>
          <a:xfrm>
            <a:off x="977843" y="2604314"/>
            <a:ext cx="5003509" cy="6224945"/>
          </a:xfrm>
          <a:prstGeom prst="roundRect">
            <a:avLst>
              <a:gd name="adj" fmla="val 4569"/>
            </a:avLst>
          </a:prstGeom>
          <a:solidFill>
            <a:srgbClr val="F9FAF4">
              <a:alpha val="100000"/>
            </a:srgbClr>
          </a:solidFill>
          <a:ln w="38100">
            <a:solidFill>
              <a:srgbClr val="E8E9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3" name="Image 7" descr=" 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35017" y="3417368"/>
            <a:ext cx="1231828" cy="1206877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1384220" y="5909463"/>
            <a:ext cx="4135726" cy="1342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142"/>
              </a:lnSpc>
              <a:buNone/>
            </a:pPr>
            <a:r>
              <a:rPr lang="en-US" sz="2300" dirty="0">
                <a:solidFill>
                  <a:srgbClr val="393A36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SMEs, Digital Agencies,</a:t>
            </a:r>
            <a:endParaRPr lang="en-US" sz="2300" dirty="0"/>
          </a:p>
          <a:p>
            <a:pPr marL="0" indent="0" algn="l">
              <a:lnSpc>
                <a:spcPts val="3142"/>
              </a:lnSpc>
              <a:buNone/>
            </a:pPr>
            <a:r>
              <a:rPr lang="en-US" sz="2300" dirty="0">
                <a:solidFill>
                  <a:srgbClr val="393A36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Private Clinics, Cross-border</a:t>
            </a:r>
            <a:endParaRPr lang="en-US" sz="2300" dirty="0"/>
          </a:p>
          <a:p>
            <a:pPr marL="0" indent="0" algn="l">
              <a:lnSpc>
                <a:spcPts val="3142"/>
              </a:lnSpc>
              <a:buNone/>
            </a:pPr>
            <a:r>
              <a:rPr lang="en-US" sz="2300" dirty="0">
                <a:solidFill>
                  <a:srgbClr val="393A36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E-commerce teams.</a:t>
            </a:r>
            <a:endParaRPr lang="en-US" sz="2300" dirty="0"/>
          </a:p>
        </p:txBody>
      </p:sp>
      <p:sp>
        <p:nvSpPr>
          <p:cNvPr id="25" name="Text 15"/>
          <p:cNvSpPr/>
          <p:nvPr/>
        </p:nvSpPr>
        <p:spPr>
          <a:xfrm>
            <a:off x="1409618" y="5126051"/>
            <a:ext cx="3924072" cy="81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dirty="0">
                <a:solidFill>
                  <a:srgbClr val="4F5E4E">
                    <a:alpha val="100000"/>
                  </a:srgbClr>
                </a:solidFill>
                <a:latin typeface="EB Garamond Bold" pitchFamily="34" charset="0"/>
                <a:ea typeface="EB Garamond Bold" pitchFamily="34" charset="-122"/>
                <a:cs typeface="EB Garamond Bold" pitchFamily="34" charset="-120"/>
              </a:rPr>
              <a:t>Paying Customers</a:t>
            </a:r>
            <a:endParaRPr lang="en-US" sz="3900" dirty="0"/>
          </a:p>
        </p:txBody>
      </p:sp>
      <p:sp>
        <p:nvSpPr>
          <p:cNvPr id="27" name="Text 17"/>
          <p:cNvSpPr/>
          <p:nvPr/>
        </p:nvSpPr>
        <p:spPr>
          <a:xfrm>
            <a:off x="3299381" y="846931"/>
            <a:ext cx="10398889" cy="1189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0" b="1" dirty="0">
                <a:solidFill>
                  <a:srgbClr val="41423D">
                    <a:alpha val="100000"/>
                  </a:srgbClr>
                </a:solidFill>
                <a:latin typeface="EB Garamond Regular" pitchFamily="34" charset="0"/>
                <a:ea typeface="EB Garamond Regular" pitchFamily="34" charset="-122"/>
                <a:cs typeface="EB Garamond Regular" pitchFamily="34" charset="-120"/>
              </a:rPr>
              <a:t>Target Customers &amp; Use Cases</a:t>
            </a:r>
            <a:endParaRPr lang="en-US" sz="6200" b="1" dirty="0"/>
          </a:p>
        </p:txBody>
      </p:sp>
      <p:pic>
        <p:nvPicPr>
          <p:cNvPr id="28" name="Image 1" descr=" ">
            <a:extLst>
              <a:ext uri="{FF2B5EF4-FFF2-40B4-BE49-F238E27FC236}">
                <a16:creationId xmlns:a16="http://schemas.microsoft.com/office/drawing/2014/main" id="{AA81A499-7B7E-A0AA-A220-4D436D0E655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657176" y="8912481"/>
            <a:ext cx="816437" cy="84416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474184" cy="9756648"/>
          </a:xfrm>
          <a:prstGeom prst="rect">
            <a:avLst/>
          </a:prstGeom>
          <a:solidFill>
            <a:srgbClr val="EAEBDF">
              <a:alpha val="10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7474184" cy="975664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" name="Image 0" descr=" 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474184" cy="97566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8282988"/>
            <a:ext cx="17474184" cy="146095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4"/>
          <p:cNvSpPr/>
          <p:nvPr/>
        </p:nvSpPr>
        <p:spPr>
          <a:xfrm>
            <a:off x="14019985" y="8424849"/>
            <a:ext cx="757723" cy="478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dirty="0">
                <a:solidFill>
                  <a:srgbClr val="33342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High</a:t>
            </a:r>
            <a:endParaRPr lang="en-US" sz="2300" dirty="0"/>
          </a:p>
        </p:txBody>
      </p:sp>
      <p:sp>
        <p:nvSpPr>
          <p:cNvPr id="9" name="Text 5"/>
          <p:cNvSpPr/>
          <p:nvPr/>
        </p:nvSpPr>
        <p:spPr>
          <a:xfrm>
            <a:off x="6654413" y="8407910"/>
            <a:ext cx="4334681" cy="588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34353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Ease of Setup / Onboarding</a:t>
            </a:r>
            <a:endParaRPr lang="en-US" sz="2500" dirty="0"/>
          </a:p>
        </p:txBody>
      </p:sp>
      <p:pic>
        <p:nvPicPr>
          <p:cNvPr id="10" name="Image 2" descr=" 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4808" y="6479024"/>
            <a:ext cx="292083" cy="292191"/>
          </a:xfrm>
          <a:prstGeom prst="rect">
            <a:avLst/>
          </a:prstGeom>
        </p:spPr>
      </p:pic>
      <p:pic>
        <p:nvPicPr>
          <p:cNvPr id="11" name="Image 3" descr=" 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8854" y="6479024"/>
            <a:ext cx="279384" cy="292191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8686295" y="2566202"/>
            <a:ext cx="6184540" cy="288380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7"/>
          <p:cNvSpPr/>
          <p:nvPr/>
        </p:nvSpPr>
        <p:spPr>
          <a:xfrm>
            <a:off x="8724393" y="2604314"/>
            <a:ext cx="6133743" cy="2858393"/>
          </a:xfrm>
          <a:prstGeom prst="rect">
            <a:avLst/>
          </a:prstGeom>
          <a:solidFill>
            <a:srgbClr val="C8D0C1">
              <a:alpha val="100000"/>
            </a:srgbClr>
          </a:solidFill>
          <a:ln w="38100">
            <a:solidFill>
              <a:srgbClr val="6876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8"/>
          <p:cNvSpPr/>
          <p:nvPr/>
        </p:nvSpPr>
        <p:spPr>
          <a:xfrm>
            <a:off x="11276944" y="3876828"/>
            <a:ext cx="3107086" cy="885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994"/>
              </a:lnSpc>
              <a:buNone/>
            </a:pPr>
            <a:r>
              <a:rPr lang="en-US" sz="2300" dirty="0">
                <a:solidFill>
                  <a:srgbClr val="292D26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Fast onboarding +</a:t>
            </a:r>
            <a:endParaRPr lang="en-US" sz="2300" dirty="0"/>
          </a:p>
          <a:p>
            <a:pPr marL="0" indent="0" algn="l">
              <a:lnSpc>
                <a:spcPts val="2994"/>
              </a:lnSpc>
              <a:buNone/>
            </a:pPr>
            <a:r>
              <a:rPr lang="en-US" sz="2300" dirty="0">
                <a:solidFill>
                  <a:srgbClr val="292D26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Templates + Calm UX</a:t>
            </a:r>
            <a:endParaRPr lang="en-US" sz="2300" dirty="0"/>
          </a:p>
        </p:txBody>
      </p:sp>
      <p:sp>
        <p:nvSpPr>
          <p:cNvPr id="16" name="Text 9"/>
          <p:cNvSpPr/>
          <p:nvPr/>
        </p:nvSpPr>
        <p:spPr>
          <a:xfrm>
            <a:off x="11302343" y="3345378"/>
            <a:ext cx="1197964" cy="6013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262924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Custly</a:t>
            </a:r>
            <a:endParaRPr lang="en-US" sz="2800" dirty="0"/>
          </a:p>
        </p:txBody>
      </p:sp>
      <p:pic>
        <p:nvPicPr>
          <p:cNvPr id="17" name="Image 5" descr=" 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6155" y="3595223"/>
            <a:ext cx="292083" cy="292191"/>
          </a:xfrm>
          <a:prstGeom prst="rect">
            <a:avLst/>
          </a:prstGeom>
        </p:spPr>
      </p:pic>
      <p:pic>
        <p:nvPicPr>
          <p:cNvPr id="18" name="Image 6" descr=" 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76356" y="8092428"/>
            <a:ext cx="12559570" cy="317599"/>
          </a:xfrm>
          <a:prstGeom prst="rect">
            <a:avLst/>
          </a:prstGeom>
        </p:spPr>
      </p:pic>
      <p:pic>
        <p:nvPicPr>
          <p:cNvPr id="19" name="Image 7" descr=" 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08131" y="2477274"/>
            <a:ext cx="317482" cy="6313872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10641981" y="6874964"/>
            <a:ext cx="2662612" cy="478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dirty="0">
                <a:solidFill>
                  <a:srgbClr val="3E3F3A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Weaker Templates</a:t>
            </a:r>
            <a:endParaRPr lang="en-US" sz="2300" dirty="0"/>
          </a:p>
        </p:txBody>
      </p:sp>
      <p:sp>
        <p:nvSpPr>
          <p:cNvPr id="21" name="Text 11"/>
          <p:cNvSpPr/>
          <p:nvPr/>
        </p:nvSpPr>
        <p:spPr>
          <a:xfrm>
            <a:off x="4698727" y="6836853"/>
            <a:ext cx="2510221" cy="554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dirty="0">
                <a:solidFill>
                  <a:srgbClr val="373833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High Setup Effort</a:t>
            </a:r>
            <a:endParaRPr lang="en-US" sz="2300" dirty="0"/>
          </a:p>
        </p:txBody>
      </p:sp>
      <p:sp>
        <p:nvSpPr>
          <p:cNvPr id="22" name="Text 12"/>
          <p:cNvSpPr/>
          <p:nvPr/>
        </p:nvSpPr>
        <p:spPr>
          <a:xfrm>
            <a:off x="10667380" y="6303286"/>
            <a:ext cx="2840402" cy="630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dirty="0">
                <a:solidFill>
                  <a:srgbClr val="2D2E29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Zoho/Pipedrive</a:t>
            </a:r>
            <a:endParaRPr lang="en-US" sz="2900" dirty="0"/>
          </a:p>
        </p:txBody>
      </p:sp>
      <p:sp>
        <p:nvSpPr>
          <p:cNvPr id="23" name="Text 13"/>
          <p:cNvSpPr/>
          <p:nvPr/>
        </p:nvSpPr>
        <p:spPr>
          <a:xfrm>
            <a:off x="4698727" y="6305403"/>
            <a:ext cx="2315499" cy="626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31322D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Open Source</a:t>
            </a:r>
            <a:endParaRPr lang="en-US" sz="2800" dirty="0"/>
          </a:p>
        </p:txBody>
      </p:sp>
      <p:sp>
        <p:nvSpPr>
          <p:cNvPr id="24" name="Text 14"/>
          <p:cNvSpPr/>
          <p:nvPr/>
        </p:nvSpPr>
        <p:spPr>
          <a:xfrm>
            <a:off x="4698727" y="3980577"/>
            <a:ext cx="2213905" cy="486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31332D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Heavy &amp; Costly</a:t>
            </a:r>
            <a:endParaRPr lang="en-US" sz="2200" dirty="0"/>
          </a:p>
        </p:txBody>
      </p:sp>
      <p:sp>
        <p:nvSpPr>
          <p:cNvPr id="25" name="Text 15"/>
          <p:cNvSpPr/>
          <p:nvPr/>
        </p:nvSpPr>
        <p:spPr>
          <a:xfrm>
            <a:off x="4698727" y="3406781"/>
            <a:ext cx="3665854" cy="630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dirty="0">
                <a:solidFill>
                  <a:srgbClr val="3B3C37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Salesforce/HubSpot</a:t>
            </a:r>
            <a:endParaRPr lang="en-US" sz="2900" dirty="0"/>
          </a:p>
        </p:txBody>
      </p:sp>
      <p:sp>
        <p:nvSpPr>
          <p:cNvPr id="26" name="Text 16"/>
          <p:cNvSpPr/>
          <p:nvPr/>
        </p:nvSpPr>
        <p:spPr>
          <a:xfrm rot="16200000">
            <a:off x="203684" y="5467338"/>
            <a:ext cx="5033141" cy="436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6566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Workflow Depth /Customization</a:t>
            </a:r>
            <a:endParaRPr lang="en-US" sz="2500" dirty="0"/>
          </a:p>
        </p:txBody>
      </p:sp>
      <p:sp>
        <p:nvSpPr>
          <p:cNvPr id="27" name="Text 17"/>
          <p:cNvSpPr/>
          <p:nvPr/>
        </p:nvSpPr>
        <p:spPr>
          <a:xfrm>
            <a:off x="2120777" y="2466687"/>
            <a:ext cx="745023" cy="478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dirty="0">
                <a:solidFill>
                  <a:srgbClr val="31322C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High</a:t>
            </a:r>
            <a:endParaRPr lang="en-US" sz="2300" dirty="0"/>
          </a:p>
        </p:txBody>
      </p:sp>
      <p:sp>
        <p:nvSpPr>
          <p:cNvPr id="28" name="Text 18"/>
          <p:cNvSpPr/>
          <p:nvPr/>
        </p:nvSpPr>
        <p:spPr>
          <a:xfrm>
            <a:off x="4228854" y="887161"/>
            <a:ext cx="9229628" cy="1177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6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EB Garamond Regular" pitchFamily="34" charset="0"/>
                <a:ea typeface="EB Garamond Regular" pitchFamily="34" charset="-122"/>
                <a:cs typeface="EB Garamond Regular" pitchFamily="34" charset="-120"/>
              </a:rPr>
              <a:t>Competitive Positioning</a:t>
            </a:r>
            <a:endParaRPr lang="en-US" altLang="zh-CN" sz="6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31" name="图片 30" descr="图标&#10;&#10;AI 生成的内容可能不正确。">
            <a:extLst>
              <a:ext uri="{FF2B5EF4-FFF2-40B4-BE49-F238E27FC236}">
                <a16:creationId xmlns:a16="http://schemas.microsoft.com/office/drawing/2014/main" id="{7CF1EEEE-199F-1FE4-C856-E18BA409F3F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62791" y="3136163"/>
            <a:ext cx="1550906" cy="1611726"/>
          </a:xfrm>
          <a:prstGeom prst="rect">
            <a:avLst/>
          </a:prstGeom>
        </p:spPr>
      </p:pic>
      <p:pic>
        <p:nvPicPr>
          <p:cNvPr id="32" name="Image 1" descr=" ">
            <a:extLst>
              <a:ext uri="{FF2B5EF4-FFF2-40B4-BE49-F238E27FC236}">
                <a16:creationId xmlns:a16="http://schemas.microsoft.com/office/drawing/2014/main" id="{439F3E64-89E5-2DCB-E168-A63C37955AA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657176" y="8912481"/>
            <a:ext cx="816437" cy="84416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474184" cy="9756648"/>
          </a:xfrm>
          <a:prstGeom prst="rect">
            <a:avLst/>
          </a:prstGeom>
          <a:solidFill>
            <a:srgbClr val="E8EADC">
              <a:alpha val="10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7474184" cy="975664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" name="Image 0" descr=" 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474184" cy="9756648"/>
          </a:xfrm>
          <a:prstGeom prst="rect">
            <a:avLst/>
          </a:prstGeom>
        </p:spPr>
      </p:pic>
      <p:pic>
        <p:nvPicPr>
          <p:cNvPr id="6" name="Image 2" descr=" 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53247" y="7749421"/>
            <a:ext cx="825452" cy="749534"/>
          </a:xfrm>
          <a:prstGeom prst="rect">
            <a:avLst/>
          </a:prstGeom>
        </p:spPr>
      </p:pic>
      <p:pic>
        <p:nvPicPr>
          <p:cNvPr id="7" name="Image 3" descr=" 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5987" y="7812941"/>
            <a:ext cx="850851" cy="622494"/>
          </a:xfrm>
          <a:prstGeom prst="rect">
            <a:avLst/>
          </a:prstGeom>
        </p:spPr>
      </p:pic>
      <p:pic>
        <p:nvPicPr>
          <p:cNvPr id="8" name="Image 4" descr=" 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8111" y="7825645"/>
            <a:ext cx="888948" cy="597087"/>
          </a:xfrm>
          <a:prstGeom prst="rect">
            <a:avLst/>
          </a:prstGeom>
        </p:spPr>
      </p:pic>
      <p:pic>
        <p:nvPicPr>
          <p:cNvPr id="9" name="Image 5" descr=" 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5144" y="7698605"/>
            <a:ext cx="825452" cy="851166"/>
          </a:xfrm>
          <a:prstGeom prst="rect">
            <a:avLst/>
          </a:prstGeom>
        </p:spPr>
      </p:pic>
      <p:sp>
        <p:nvSpPr>
          <p:cNvPr id="10" name="Shape 2"/>
          <p:cNvSpPr/>
          <p:nvPr/>
        </p:nvSpPr>
        <p:spPr>
          <a:xfrm>
            <a:off x="12737359" y="2642426"/>
            <a:ext cx="3860576" cy="321410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3"/>
          <p:cNvSpPr/>
          <p:nvPr/>
        </p:nvSpPr>
        <p:spPr>
          <a:xfrm>
            <a:off x="12838954" y="2744057"/>
            <a:ext cx="3670087" cy="3010841"/>
          </a:xfrm>
          <a:prstGeom prst="roundRect">
            <a:avLst>
              <a:gd name="adj" fmla="val 7593"/>
            </a:avLst>
          </a:prstGeom>
          <a:solidFill>
            <a:srgbClr val="F8FAF2">
              <a:alpha val="100000"/>
            </a:srgbClr>
          </a:solidFill>
          <a:ln w="38100">
            <a:solidFill>
              <a:srgbClr val="5D705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4"/>
          <p:cNvSpPr/>
          <p:nvPr/>
        </p:nvSpPr>
        <p:spPr>
          <a:xfrm>
            <a:off x="12800856" y="2705945"/>
            <a:ext cx="3733583" cy="308706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5"/>
          <p:cNvSpPr/>
          <p:nvPr/>
        </p:nvSpPr>
        <p:spPr>
          <a:xfrm>
            <a:off x="13569161" y="4122438"/>
            <a:ext cx="2311266" cy="1029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3279"/>
              </a:lnSpc>
              <a:buNone/>
            </a:pPr>
            <a:r>
              <a:rPr lang="en-US" sz="2700" dirty="0">
                <a:solidFill>
                  <a:srgbClr val="2C2D2A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Custom SLA/</a:t>
            </a:r>
            <a:endParaRPr lang="en-US" sz="2700" dirty="0"/>
          </a:p>
          <a:p>
            <a:pPr marL="0" indent="0" algn="ctr">
              <a:lnSpc>
                <a:spcPts val="3279"/>
              </a:lnSpc>
              <a:buNone/>
            </a:pPr>
            <a:r>
              <a:rPr lang="en-US" sz="2700" dirty="0">
                <a:solidFill>
                  <a:srgbClr val="2C2D2A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On-premise.</a:t>
            </a:r>
            <a:endParaRPr lang="en-US" sz="2700" dirty="0"/>
          </a:p>
        </p:txBody>
      </p:sp>
      <p:sp>
        <p:nvSpPr>
          <p:cNvPr id="14" name="Text 6"/>
          <p:cNvSpPr/>
          <p:nvPr/>
        </p:nvSpPr>
        <p:spPr>
          <a:xfrm>
            <a:off x="13410420" y="3294563"/>
            <a:ext cx="2785371" cy="893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dirty="0">
                <a:solidFill>
                  <a:srgbClr val="292A27">
                    <a:alpha val="100000"/>
                  </a:srgbClr>
                </a:solidFill>
                <a:latin typeface="EB Garamond Bold" pitchFamily="34" charset="0"/>
                <a:ea typeface="EB Garamond Bold" pitchFamily="34" charset="-122"/>
                <a:cs typeface="EB Garamond Bold" pitchFamily="34" charset="-120"/>
              </a:rPr>
              <a:t>Enterprise</a:t>
            </a:r>
            <a:endParaRPr lang="en-US" sz="4600" dirty="0"/>
          </a:p>
        </p:txBody>
      </p:sp>
      <p:sp>
        <p:nvSpPr>
          <p:cNvPr id="15" name="Shape 7"/>
          <p:cNvSpPr/>
          <p:nvPr/>
        </p:nvSpPr>
        <p:spPr>
          <a:xfrm>
            <a:off x="8775190" y="2642426"/>
            <a:ext cx="3847876" cy="321410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8"/>
          <p:cNvSpPr/>
          <p:nvPr/>
        </p:nvSpPr>
        <p:spPr>
          <a:xfrm>
            <a:off x="8876784" y="2744057"/>
            <a:ext cx="3670087" cy="3010841"/>
          </a:xfrm>
          <a:prstGeom prst="roundRect">
            <a:avLst>
              <a:gd name="adj" fmla="val 7593"/>
            </a:avLst>
          </a:prstGeom>
          <a:solidFill>
            <a:srgbClr val="F8FAF2">
              <a:alpha val="100000"/>
            </a:srgbClr>
          </a:solidFill>
          <a:ln w="38100">
            <a:solidFill>
              <a:srgbClr val="5B6E5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9"/>
          <p:cNvSpPr/>
          <p:nvPr/>
        </p:nvSpPr>
        <p:spPr>
          <a:xfrm>
            <a:off x="8838686" y="2705945"/>
            <a:ext cx="3720884" cy="308706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0"/>
          <p:cNvSpPr/>
          <p:nvPr/>
        </p:nvSpPr>
        <p:spPr>
          <a:xfrm>
            <a:off x="9380521" y="4124555"/>
            <a:ext cx="2713409" cy="986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3388"/>
              </a:lnSpc>
              <a:buNone/>
            </a:pPr>
            <a:r>
              <a:rPr lang="en-US" sz="2600" dirty="0">
                <a:solidFill>
                  <a:srgbClr val="2D2E2B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Shared pipelines</a:t>
            </a:r>
            <a:endParaRPr lang="en-US" sz="2600" dirty="0"/>
          </a:p>
          <a:p>
            <a:pPr marL="0" indent="0" algn="ctr">
              <a:lnSpc>
                <a:spcPts val="3388"/>
              </a:lnSpc>
              <a:buNone/>
            </a:pPr>
            <a:r>
              <a:rPr lang="en-US" sz="2600" dirty="0">
                <a:solidFill>
                  <a:srgbClr val="2D2E2B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+ Permissions.</a:t>
            </a:r>
            <a:endParaRPr lang="en-US" sz="2600" dirty="0"/>
          </a:p>
        </p:txBody>
      </p:sp>
      <p:sp>
        <p:nvSpPr>
          <p:cNvPr id="19" name="Text 11"/>
          <p:cNvSpPr/>
          <p:nvPr/>
        </p:nvSpPr>
        <p:spPr>
          <a:xfrm>
            <a:off x="10045116" y="3277624"/>
            <a:ext cx="1600107" cy="77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dirty="0">
                <a:solidFill>
                  <a:srgbClr val="2B2B29">
                    <a:alpha val="100000"/>
                  </a:srgbClr>
                </a:solidFill>
                <a:latin typeface="EB Garamond Bold" pitchFamily="34" charset="0"/>
                <a:ea typeface="EB Garamond Bold" pitchFamily="34" charset="-122"/>
                <a:cs typeface="EB Garamond Bold" pitchFamily="34" charset="-120"/>
              </a:rPr>
              <a:t>Team</a:t>
            </a:r>
            <a:endParaRPr lang="en-US" sz="4800" dirty="0"/>
          </a:p>
        </p:txBody>
      </p:sp>
      <p:sp>
        <p:nvSpPr>
          <p:cNvPr id="20" name="Shape 12"/>
          <p:cNvSpPr/>
          <p:nvPr/>
        </p:nvSpPr>
        <p:spPr>
          <a:xfrm>
            <a:off x="4825719" y="2642426"/>
            <a:ext cx="3847876" cy="321410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3"/>
          <p:cNvSpPr/>
          <p:nvPr/>
        </p:nvSpPr>
        <p:spPr>
          <a:xfrm>
            <a:off x="4927314" y="2744057"/>
            <a:ext cx="3657387" cy="3010841"/>
          </a:xfrm>
          <a:prstGeom prst="roundRect">
            <a:avLst>
              <a:gd name="adj" fmla="val 6681"/>
            </a:avLst>
          </a:prstGeom>
          <a:solidFill>
            <a:srgbClr val="F8FAF2">
              <a:alpha val="100000"/>
            </a:srgbClr>
          </a:solidFill>
          <a:ln w="38100">
            <a:solidFill>
              <a:srgbClr val="5C6F5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14"/>
          <p:cNvSpPr/>
          <p:nvPr/>
        </p:nvSpPr>
        <p:spPr>
          <a:xfrm>
            <a:off x="4889216" y="2705945"/>
            <a:ext cx="3720884" cy="308706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15"/>
          <p:cNvSpPr/>
          <p:nvPr/>
        </p:nvSpPr>
        <p:spPr>
          <a:xfrm>
            <a:off x="5392953" y="4124555"/>
            <a:ext cx="2776905" cy="10247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3209"/>
              </a:lnSpc>
              <a:buNone/>
            </a:pPr>
            <a:r>
              <a:rPr lang="en-US" sz="2600" dirty="0">
                <a:solidFill>
                  <a:srgbClr val="30302D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Full CRM +</a:t>
            </a:r>
            <a:endParaRPr lang="en-US" sz="2600" dirty="0"/>
          </a:p>
          <a:p>
            <a:pPr marL="0" indent="0" algn="ctr">
              <a:lnSpc>
                <a:spcPts val="3209"/>
              </a:lnSpc>
              <a:buNone/>
            </a:pPr>
            <a:r>
              <a:rPr lang="en-US" sz="2600" dirty="0">
                <a:solidFill>
                  <a:srgbClr val="30302D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Template Center.</a:t>
            </a:r>
            <a:endParaRPr lang="en-US" sz="2600" dirty="0"/>
          </a:p>
        </p:txBody>
      </p:sp>
      <p:sp>
        <p:nvSpPr>
          <p:cNvPr id="24" name="Text 16"/>
          <p:cNvSpPr/>
          <p:nvPr/>
        </p:nvSpPr>
        <p:spPr>
          <a:xfrm>
            <a:off x="6336932" y="3296680"/>
            <a:ext cx="1079437" cy="749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dirty="0">
                <a:solidFill>
                  <a:srgbClr val="1A1B18">
                    <a:alpha val="100000"/>
                  </a:srgbClr>
                </a:solidFill>
                <a:latin typeface="EB Garamond Bold" pitchFamily="34" charset="0"/>
                <a:ea typeface="EB Garamond Bold" pitchFamily="34" charset="-122"/>
                <a:cs typeface="EB Garamond Bold" pitchFamily="34" charset="-120"/>
              </a:rPr>
              <a:t>Pro</a:t>
            </a:r>
            <a:endParaRPr lang="en-US" sz="4500" dirty="0"/>
          </a:p>
        </p:txBody>
      </p:sp>
      <p:sp>
        <p:nvSpPr>
          <p:cNvPr id="25" name="Shape 17"/>
          <p:cNvSpPr/>
          <p:nvPr/>
        </p:nvSpPr>
        <p:spPr>
          <a:xfrm>
            <a:off x="850851" y="2642426"/>
            <a:ext cx="3873275" cy="321410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18"/>
          <p:cNvSpPr/>
          <p:nvPr/>
        </p:nvSpPr>
        <p:spPr>
          <a:xfrm>
            <a:off x="965144" y="2744057"/>
            <a:ext cx="3670087" cy="2998137"/>
          </a:xfrm>
          <a:prstGeom prst="roundRect">
            <a:avLst>
              <a:gd name="adj" fmla="val 6710"/>
            </a:avLst>
          </a:prstGeom>
          <a:solidFill>
            <a:srgbClr val="F8FAF2">
              <a:alpha val="100000"/>
            </a:srgbClr>
          </a:solidFill>
          <a:ln w="38100">
            <a:solidFill>
              <a:srgbClr val="5E705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19"/>
          <p:cNvSpPr/>
          <p:nvPr/>
        </p:nvSpPr>
        <p:spPr>
          <a:xfrm>
            <a:off x="914347" y="2705945"/>
            <a:ext cx="3746282" cy="308706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0"/>
          <p:cNvSpPr/>
          <p:nvPr/>
        </p:nvSpPr>
        <p:spPr>
          <a:xfrm>
            <a:off x="1583175" y="4124555"/>
            <a:ext cx="2510221" cy="986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3209"/>
              </a:lnSpc>
              <a:buNone/>
            </a:pPr>
            <a:r>
              <a:rPr lang="en-US" sz="2600" dirty="0">
                <a:solidFill>
                  <a:srgbClr val="2F302C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Limited seats +</a:t>
            </a:r>
            <a:endParaRPr lang="en-US" sz="2600" dirty="0"/>
          </a:p>
          <a:p>
            <a:pPr marL="0" indent="0" algn="ctr">
              <a:lnSpc>
                <a:spcPts val="3209"/>
              </a:lnSpc>
              <a:buNone/>
            </a:pPr>
            <a:r>
              <a:rPr lang="en-US" sz="2600" dirty="0">
                <a:solidFill>
                  <a:srgbClr val="2F302C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demo data.</a:t>
            </a:r>
            <a:endParaRPr lang="en-US" sz="2600" dirty="0"/>
          </a:p>
        </p:txBody>
      </p:sp>
      <p:sp>
        <p:nvSpPr>
          <p:cNvPr id="29" name="Text 21"/>
          <p:cNvSpPr/>
          <p:nvPr/>
        </p:nvSpPr>
        <p:spPr>
          <a:xfrm>
            <a:off x="1562009" y="3279741"/>
            <a:ext cx="2738807" cy="796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700" dirty="0">
                <a:solidFill>
                  <a:srgbClr val="21221F">
                    <a:alpha val="100000"/>
                  </a:srgbClr>
                </a:solidFill>
                <a:latin typeface="EB Garamond Bold" pitchFamily="34" charset="0"/>
                <a:ea typeface="EB Garamond Bold" pitchFamily="34" charset="-122"/>
                <a:cs typeface="EB Garamond Bold" pitchFamily="34" charset="-120"/>
              </a:rPr>
              <a:t>Freemium</a:t>
            </a:r>
            <a:endParaRPr lang="en-US" sz="4700" dirty="0"/>
          </a:p>
        </p:txBody>
      </p:sp>
      <p:sp>
        <p:nvSpPr>
          <p:cNvPr id="31" name="Text 23"/>
          <p:cNvSpPr/>
          <p:nvPr/>
        </p:nvSpPr>
        <p:spPr>
          <a:xfrm>
            <a:off x="14007286" y="8092428"/>
            <a:ext cx="2235070" cy="482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2E2F2A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Demo Access)</a:t>
            </a:r>
            <a:endParaRPr lang="en-US" sz="2400" dirty="0"/>
          </a:p>
        </p:txBody>
      </p:sp>
      <p:sp>
        <p:nvSpPr>
          <p:cNvPr id="32" name="Text 24"/>
          <p:cNvSpPr/>
          <p:nvPr/>
        </p:nvSpPr>
        <p:spPr>
          <a:xfrm>
            <a:off x="14007286" y="7632968"/>
            <a:ext cx="1998017" cy="563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32332E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PLG (Instant</a:t>
            </a:r>
            <a:endParaRPr lang="en-US" sz="2500" dirty="0"/>
          </a:p>
        </p:txBody>
      </p:sp>
      <p:sp>
        <p:nvSpPr>
          <p:cNvPr id="33" name="Text 25"/>
          <p:cNvSpPr/>
          <p:nvPr/>
        </p:nvSpPr>
        <p:spPr>
          <a:xfrm>
            <a:off x="9867326" y="7645672"/>
            <a:ext cx="2836168" cy="98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170"/>
              </a:lnSpc>
              <a:buNone/>
            </a:pPr>
            <a:r>
              <a:rPr lang="en-US" sz="2500" dirty="0">
                <a:solidFill>
                  <a:srgbClr val="2E2F2A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Outbound</a:t>
            </a:r>
            <a:endParaRPr lang="en-US" sz="2500" dirty="0"/>
          </a:p>
          <a:p>
            <a:pPr marL="0" indent="0" algn="l">
              <a:lnSpc>
                <a:spcPts val="3170"/>
              </a:lnSpc>
              <a:buNone/>
            </a:pPr>
            <a:r>
              <a:rPr lang="en-US" sz="2500" dirty="0">
                <a:solidFill>
                  <a:srgbClr val="2E2F2A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(Agencies/Clinics)</a:t>
            </a:r>
            <a:endParaRPr lang="en-US" sz="2500" dirty="0"/>
          </a:p>
        </p:txBody>
      </p:sp>
      <p:sp>
        <p:nvSpPr>
          <p:cNvPr id="34" name="Text 26"/>
          <p:cNvSpPr/>
          <p:nvPr/>
        </p:nvSpPr>
        <p:spPr>
          <a:xfrm>
            <a:off x="6082946" y="7645672"/>
            <a:ext cx="2023416" cy="969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500" dirty="0">
                <a:solidFill>
                  <a:srgbClr val="31322D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Partnerships</a:t>
            </a:r>
            <a:endParaRPr lang="en-US" sz="25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500" dirty="0">
                <a:solidFill>
                  <a:srgbClr val="31322D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(Incubators)</a:t>
            </a:r>
            <a:endParaRPr lang="en-US" sz="2500" dirty="0"/>
          </a:p>
        </p:txBody>
      </p:sp>
      <p:sp>
        <p:nvSpPr>
          <p:cNvPr id="35" name="Text 27"/>
          <p:cNvSpPr/>
          <p:nvPr/>
        </p:nvSpPr>
        <p:spPr>
          <a:xfrm>
            <a:off x="2019183" y="8052199"/>
            <a:ext cx="2671078" cy="563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292A25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(Template intent)</a:t>
            </a:r>
            <a:endParaRPr lang="en-US" sz="2500" dirty="0"/>
          </a:p>
        </p:txBody>
      </p:sp>
      <p:sp>
        <p:nvSpPr>
          <p:cNvPr id="36" name="Text 28"/>
          <p:cNvSpPr/>
          <p:nvPr/>
        </p:nvSpPr>
        <p:spPr>
          <a:xfrm>
            <a:off x="2006483" y="7671080"/>
            <a:ext cx="2061513" cy="486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2E2F29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Content SEO</a:t>
            </a:r>
            <a:endParaRPr lang="en-US" sz="2500" dirty="0"/>
          </a:p>
        </p:txBody>
      </p:sp>
      <p:sp>
        <p:nvSpPr>
          <p:cNvPr id="37" name="Text 29"/>
          <p:cNvSpPr/>
          <p:nvPr/>
        </p:nvSpPr>
        <p:spPr>
          <a:xfrm>
            <a:off x="977843" y="6544661"/>
            <a:ext cx="5177066" cy="821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100" dirty="0">
                <a:solidFill>
                  <a:srgbClr val="4C4E47">
                    <a:alpha val="100000"/>
                  </a:srgbClr>
                </a:solidFill>
                <a:latin typeface="EB Garamond Bold" pitchFamily="34" charset="0"/>
                <a:ea typeface="EB Garamond Bold" pitchFamily="34" charset="-122"/>
                <a:cs typeface="EB Garamond Bold" pitchFamily="34" charset="-120"/>
              </a:rPr>
              <a:t>Distribution Channels</a:t>
            </a:r>
            <a:endParaRPr lang="en-US" sz="4100" dirty="0"/>
          </a:p>
        </p:txBody>
      </p:sp>
      <p:sp>
        <p:nvSpPr>
          <p:cNvPr id="38" name="Text 30"/>
          <p:cNvSpPr/>
          <p:nvPr/>
        </p:nvSpPr>
        <p:spPr>
          <a:xfrm>
            <a:off x="2628747" y="836345"/>
            <a:ext cx="12551104" cy="117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500" b="1" dirty="0">
                <a:solidFill>
                  <a:srgbClr val="31322E">
                    <a:alpha val="100000"/>
                  </a:srgbClr>
                </a:solidFill>
                <a:latin typeface="EB Garamond Bold" pitchFamily="34" charset="0"/>
                <a:ea typeface="EB Garamond Bold" pitchFamily="34" charset="-122"/>
                <a:cs typeface="EB Garamond Bold" pitchFamily="34" charset="-120"/>
              </a:rPr>
              <a:t>Business Model &amp; Go-tO-Market Strategy</a:t>
            </a:r>
            <a:endParaRPr lang="en-US" sz="5500" b="1" dirty="0"/>
          </a:p>
        </p:txBody>
      </p:sp>
      <p:pic>
        <p:nvPicPr>
          <p:cNvPr id="39" name="Image 1" descr=" ">
            <a:extLst>
              <a:ext uri="{FF2B5EF4-FFF2-40B4-BE49-F238E27FC236}">
                <a16:creationId xmlns:a16="http://schemas.microsoft.com/office/drawing/2014/main" id="{016CA660-D250-9D93-992C-9F9FD1E7813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657176" y="8912481"/>
            <a:ext cx="816437" cy="84416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474184" cy="9756648"/>
          </a:xfrm>
          <a:prstGeom prst="rect">
            <a:avLst/>
          </a:prstGeom>
          <a:solidFill>
            <a:srgbClr val="E9EBDE">
              <a:alpha val="10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9270461" y="0"/>
            <a:ext cx="8191024" cy="975664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10210206" y="7281491"/>
            <a:ext cx="3792846" cy="592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dirty="0">
                <a:solidFill>
                  <a:srgbClr val="2A2B27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Permissions system.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10946764" y="6735221"/>
            <a:ext cx="4173824" cy="605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dirty="0">
                <a:solidFill>
                  <a:srgbClr val="31322E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Audit logs + Advanced</a:t>
            </a:r>
            <a:endParaRPr lang="en-US" sz="2900" dirty="0"/>
          </a:p>
        </p:txBody>
      </p:sp>
      <p:sp>
        <p:nvSpPr>
          <p:cNvPr id="8" name="Text 5"/>
          <p:cNvSpPr/>
          <p:nvPr/>
        </p:nvSpPr>
        <p:spPr>
          <a:xfrm>
            <a:off x="10197507" y="6735221"/>
            <a:ext cx="783121" cy="618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dirty="0">
                <a:solidFill>
                  <a:srgbClr val="171715">
                    <a:alpha val="10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Q4:</a:t>
            </a:r>
            <a:endParaRPr lang="en-US" sz="2900" dirty="0"/>
          </a:p>
        </p:txBody>
      </p:sp>
      <p:pic>
        <p:nvPicPr>
          <p:cNvPr id="9" name="Image 1" descr=" 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2236" y="6974479"/>
            <a:ext cx="253985" cy="2413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210206" y="6161425"/>
            <a:ext cx="3174815" cy="584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2C2D29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implementation).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10946764" y="5602450"/>
            <a:ext cx="3860576" cy="6351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32332E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Al Suggestions (Pilot</a:t>
            </a:r>
            <a:endParaRPr lang="en-US" sz="3000" dirty="0"/>
          </a:p>
        </p:txBody>
      </p:sp>
      <p:sp>
        <p:nvSpPr>
          <p:cNvPr id="12" name="Text 8"/>
          <p:cNvSpPr/>
          <p:nvPr/>
        </p:nvSpPr>
        <p:spPr>
          <a:xfrm>
            <a:off x="10197507" y="5617272"/>
            <a:ext cx="770422" cy="618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dirty="0">
                <a:solidFill>
                  <a:srgbClr val="191A17">
                    <a:alpha val="10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Q3:</a:t>
            </a:r>
            <a:endParaRPr lang="en-US" sz="2900" dirty="0"/>
          </a:p>
        </p:txBody>
      </p:sp>
      <p:pic>
        <p:nvPicPr>
          <p:cNvPr id="13" name="Image 2" descr=" 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2236" y="5843826"/>
            <a:ext cx="253985" cy="25407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210206" y="5056180"/>
            <a:ext cx="2311266" cy="558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242521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capabilities.</a:t>
            </a:r>
            <a:endParaRPr lang="en-US" sz="3000" dirty="0"/>
          </a:p>
        </p:txBody>
      </p:sp>
      <p:sp>
        <p:nvSpPr>
          <p:cNvPr id="15" name="Text 10"/>
          <p:cNvSpPr/>
          <p:nvPr/>
        </p:nvSpPr>
        <p:spPr>
          <a:xfrm>
            <a:off x="10934064" y="4486618"/>
            <a:ext cx="5456449" cy="630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dirty="0">
                <a:solidFill>
                  <a:srgbClr val="2F302B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Template Engine v2 + Sharing</a:t>
            </a:r>
            <a:endParaRPr lang="en-US" sz="2900" dirty="0"/>
          </a:p>
        </p:txBody>
      </p:sp>
      <p:sp>
        <p:nvSpPr>
          <p:cNvPr id="16" name="Text 11"/>
          <p:cNvSpPr/>
          <p:nvPr/>
        </p:nvSpPr>
        <p:spPr>
          <a:xfrm>
            <a:off x="10197507" y="4486618"/>
            <a:ext cx="757723" cy="630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dirty="0">
                <a:solidFill>
                  <a:srgbClr val="171815">
                    <a:alpha val="10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Q2:</a:t>
            </a:r>
            <a:endParaRPr lang="en-US" sz="2900" dirty="0"/>
          </a:p>
        </p:txBody>
      </p:sp>
      <p:pic>
        <p:nvPicPr>
          <p:cNvPr id="17" name="Image 3" descr=" 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2236" y="4725876"/>
            <a:ext cx="253985" cy="25407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222906" y="3876828"/>
            <a:ext cx="4859584" cy="605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dirty="0">
                <a:solidFill>
                  <a:srgbClr val="2F302C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Performance optimization.</a:t>
            </a:r>
            <a:endParaRPr lang="en-US" sz="2900" dirty="0"/>
          </a:p>
        </p:txBody>
      </p:sp>
      <p:sp>
        <p:nvSpPr>
          <p:cNvPr id="19" name="Text 13"/>
          <p:cNvSpPr/>
          <p:nvPr/>
        </p:nvSpPr>
        <p:spPr>
          <a:xfrm>
            <a:off x="10883267" y="3330557"/>
            <a:ext cx="5316758" cy="643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dirty="0">
                <a:solidFill>
                  <a:srgbClr val="2B2C27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OAuth hardening, QA testing,</a:t>
            </a:r>
            <a:endParaRPr lang="en-US" sz="2900" dirty="0"/>
          </a:p>
        </p:txBody>
      </p:sp>
      <p:sp>
        <p:nvSpPr>
          <p:cNvPr id="20" name="Text 14"/>
          <p:cNvSpPr/>
          <p:nvPr/>
        </p:nvSpPr>
        <p:spPr>
          <a:xfrm>
            <a:off x="10210206" y="3330557"/>
            <a:ext cx="706926" cy="630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dirty="0">
                <a:solidFill>
                  <a:srgbClr val="171815">
                    <a:alpha val="10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Q1:</a:t>
            </a:r>
            <a:endParaRPr lang="en-US" sz="2900" dirty="0"/>
          </a:p>
        </p:txBody>
      </p:sp>
      <p:pic>
        <p:nvPicPr>
          <p:cNvPr id="21" name="Image 4" descr=" 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02236" y="3582519"/>
            <a:ext cx="253985" cy="24137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727634" y="2434927"/>
            <a:ext cx="5761232" cy="821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dirty="0">
                <a:solidFill>
                  <a:srgbClr val="2F302C">
                    <a:alpha val="100000"/>
                  </a:srgbClr>
                </a:solidFill>
                <a:latin typeface="EB Garamond Bold" pitchFamily="34" charset="0"/>
                <a:ea typeface="EB Garamond Bold" pitchFamily="34" charset="-122"/>
                <a:cs typeface="EB Garamond Bold" pitchFamily="34" charset="-120"/>
              </a:rPr>
              <a:t>Roadmap: Next 12 Months</a:t>
            </a:r>
            <a:endParaRPr lang="en-US" sz="3800" dirty="0"/>
          </a:p>
        </p:txBody>
      </p:sp>
      <p:pic>
        <p:nvPicPr>
          <p:cNvPr id="23" name="Image 5" descr=" 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81566" y="2464570"/>
            <a:ext cx="50797" cy="6415504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8241821" y="2464570"/>
            <a:ext cx="152391" cy="6351984"/>
          </a:xfrm>
          <a:prstGeom prst="rect">
            <a:avLst/>
          </a:prstGeom>
          <a:solidFill>
            <a:srgbClr val="284432">
              <a:alpha val="100000"/>
            </a:srgbClr>
          </a:solidFill>
          <a:ln w="12700">
            <a:solidFill>
              <a:srgbClr val="84928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17"/>
          <p:cNvSpPr/>
          <p:nvPr/>
        </p:nvSpPr>
        <p:spPr>
          <a:xfrm>
            <a:off x="0" y="0"/>
            <a:ext cx="8292618" cy="889277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18"/>
          <p:cNvSpPr/>
          <p:nvPr/>
        </p:nvSpPr>
        <p:spPr>
          <a:xfrm>
            <a:off x="1587408" y="6722517"/>
            <a:ext cx="6091412" cy="1151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916"/>
              </a:lnSpc>
              <a:buNone/>
            </a:pPr>
            <a:r>
              <a:rPr lang="en-US" sz="2900" dirty="0">
                <a:solidFill>
                  <a:srgbClr val="252622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Landing page &amp; Legal compliance</a:t>
            </a:r>
            <a:endParaRPr lang="en-US" sz="2900" dirty="0"/>
          </a:p>
          <a:p>
            <a:pPr marL="0" indent="0" algn="l">
              <a:lnSpc>
                <a:spcPts val="3916"/>
              </a:lnSpc>
              <a:buNone/>
            </a:pPr>
            <a:r>
              <a:rPr lang="en-US" sz="2900" dirty="0">
                <a:solidFill>
                  <a:srgbClr val="252622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pages active.</a:t>
            </a:r>
            <a:endParaRPr lang="en-US" sz="2900" dirty="0"/>
          </a:p>
        </p:txBody>
      </p:sp>
      <p:sp>
        <p:nvSpPr>
          <p:cNvPr id="28" name="Text 19"/>
          <p:cNvSpPr/>
          <p:nvPr/>
        </p:nvSpPr>
        <p:spPr>
          <a:xfrm>
            <a:off x="1587408" y="5615154"/>
            <a:ext cx="5359088" cy="1130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808"/>
              </a:lnSpc>
              <a:buNone/>
            </a:pPr>
            <a:r>
              <a:rPr lang="en-US" sz="3000" dirty="0">
                <a:solidFill>
                  <a:srgbClr val="2D2E2A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Full multi-language coverage</a:t>
            </a:r>
            <a:endParaRPr lang="en-US" sz="3000" dirty="0"/>
          </a:p>
          <a:p>
            <a:pPr marL="0" indent="0" algn="l">
              <a:lnSpc>
                <a:spcPts val="3808"/>
              </a:lnSpc>
              <a:buNone/>
            </a:pPr>
            <a:r>
              <a:rPr lang="en-US" sz="3000" dirty="0">
                <a:solidFill>
                  <a:srgbClr val="2D2E2A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(EN/简体/繁體).</a:t>
            </a:r>
            <a:endParaRPr lang="en-US" sz="3000" dirty="0"/>
          </a:p>
        </p:txBody>
      </p:sp>
      <p:sp>
        <p:nvSpPr>
          <p:cNvPr id="30" name="Text 20"/>
          <p:cNvSpPr/>
          <p:nvPr/>
        </p:nvSpPr>
        <p:spPr>
          <a:xfrm>
            <a:off x="1574708" y="4486618"/>
            <a:ext cx="5494547" cy="1151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916"/>
              </a:lnSpc>
              <a:buNone/>
            </a:pPr>
            <a:r>
              <a:rPr lang="en-US" sz="2900" dirty="0">
                <a:solidFill>
                  <a:srgbClr val="33342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Template Center &amp; Custom</a:t>
            </a:r>
            <a:endParaRPr lang="en-US" sz="2900" dirty="0"/>
          </a:p>
          <a:p>
            <a:pPr marL="0" indent="0" algn="l">
              <a:lnSpc>
                <a:spcPts val="3916"/>
              </a:lnSpc>
              <a:buNone/>
            </a:pPr>
            <a:r>
              <a:rPr lang="en-US" sz="2900" dirty="0">
                <a:solidFill>
                  <a:srgbClr val="33342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Templates engine operational.</a:t>
            </a:r>
            <a:endParaRPr lang="en-US" sz="2900" dirty="0"/>
          </a:p>
        </p:txBody>
      </p:sp>
      <p:sp>
        <p:nvSpPr>
          <p:cNvPr id="32" name="Text 21"/>
          <p:cNvSpPr/>
          <p:nvPr/>
        </p:nvSpPr>
        <p:spPr>
          <a:xfrm>
            <a:off x="1562009" y="3317853"/>
            <a:ext cx="5481848" cy="1151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781"/>
              </a:lnSpc>
              <a:buNone/>
            </a:pPr>
            <a:r>
              <a:rPr lang="en-US" sz="2900" dirty="0">
                <a:solidFill>
                  <a:srgbClr val="262723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PocketBase collections &amp;</a:t>
            </a:r>
            <a:endParaRPr lang="en-US" sz="2900" dirty="0"/>
          </a:p>
          <a:p>
            <a:pPr marL="0" indent="0" algn="l">
              <a:lnSpc>
                <a:spcPts val="3781"/>
              </a:lnSpc>
              <a:buNone/>
            </a:pPr>
            <a:r>
              <a:rPr lang="en-US" sz="2900" dirty="0">
                <a:solidFill>
                  <a:srgbClr val="262723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Authentication flow complete.</a:t>
            </a:r>
            <a:endParaRPr lang="en-US" sz="2900" dirty="0"/>
          </a:p>
        </p:txBody>
      </p:sp>
      <p:sp>
        <p:nvSpPr>
          <p:cNvPr id="34" name="Text 22"/>
          <p:cNvSpPr/>
          <p:nvPr/>
        </p:nvSpPr>
        <p:spPr>
          <a:xfrm>
            <a:off x="1003242" y="2420106"/>
            <a:ext cx="7111587" cy="787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dirty="0">
                <a:solidFill>
                  <a:srgbClr val="2B2B28">
                    <a:alpha val="100000"/>
                  </a:srgbClr>
                </a:solidFill>
                <a:latin typeface="EB Garamond Bold" pitchFamily="34" charset="0"/>
                <a:ea typeface="EB Garamond Bold" pitchFamily="34" charset="-122"/>
                <a:cs typeface="EB Garamond Bold" pitchFamily="34" charset="-120"/>
              </a:rPr>
              <a:t>Status: Delivered (Current State)</a:t>
            </a:r>
            <a:endParaRPr lang="en-US" sz="3900" dirty="0"/>
          </a:p>
        </p:txBody>
      </p:sp>
      <p:sp>
        <p:nvSpPr>
          <p:cNvPr id="35" name="Text 23"/>
          <p:cNvSpPr/>
          <p:nvPr/>
        </p:nvSpPr>
        <p:spPr>
          <a:xfrm>
            <a:off x="1003242" y="874457"/>
            <a:ext cx="13122570" cy="1236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100" b="1" dirty="0">
                <a:solidFill>
                  <a:srgbClr val="232421">
                    <a:alpha val="100000"/>
                  </a:srgbClr>
                </a:solidFill>
                <a:latin typeface="EB Garamond Bold" pitchFamily="34" charset="0"/>
                <a:ea typeface="EB Garamond Bold" pitchFamily="34" charset="-122"/>
                <a:cs typeface="EB Garamond Bold" pitchFamily="34" charset="-120"/>
              </a:rPr>
              <a:t>R&amp;D Progress &amp; Technology Roadmap</a:t>
            </a:r>
            <a:endParaRPr lang="en-US" sz="6100" b="1" dirty="0"/>
          </a:p>
        </p:txBody>
      </p:sp>
      <p:pic>
        <p:nvPicPr>
          <p:cNvPr id="36" name="Image 1" descr=" ">
            <a:extLst>
              <a:ext uri="{FF2B5EF4-FFF2-40B4-BE49-F238E27FC236}">
                <a16:creationId xmlns:a16="http://schemas.microsoft.com/office/drawing/2014/main" id="{694050AC-CFA6-60F6-4DF7-1E8A4792E89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657176" y="8912481"/>
            <a:ext cx="816437" cy="844167"/>
          </a:xfrm>
          <a:prstGeom prst="rect">
            <a:avLst/>
          </a:prstGeom>
        </p:spPr>
      </p:pic>
      <p:pic>
        <p:nvPicPr>
          <p:cNvPr id="38" name="图片 37" descr="图标&#10;&#10;AI 生成的内容可能不正确。">
            <a:extLst>
              <a:ext uri="{FF2B5EF4-FFF2-40B4-BE49-F238E27FC236}">
                <a16:creationId xmlns:a16="http://schemas.microsoft.com/office/drawing/2014/main" id="{F1CBC4BC-8287-F8D3-B47B-8865088CAD1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5997" y="3422553"/>
            <a:ext cx="534225" cy="534225"/>
          </a:xfrm>
          <a:prstGeom prst="rect">
            <a:avLst/>
          </a:prstGeom>
        </p:spPr>
      </p:pic>
      <p:pic>
        <p:nvPicPr>
          <p:cNvPr id="39" name="图片 38" descr="图标&#10;&#10;AI 生成的内容可能不正确。">
            <a:extLst>
              <a:ext uri="{FF2B5EF4-FFF2-40B4-BE49-F238E27FC236}">
                <a16:creationId xmlns:a16="http://schemas.microsoft.com/office/drawing/2014/main" id="{3D7108A2-4FAF-F2BB-A0F0-0E1029483B1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5997" y="4578363"/>
            <a:ext cx="534225" cy="534225"/>
          </a:xfrm>
          <a:prstGeom prst="rect">
            <a:avLst/>
          </a:prstGeom>
        </p:spPr>
      </p:pic>
      <p:pic>
        <p:nvPicPr>
          <p:cNvPr id="40" name="图片 39" descr="图标&#10;&#10;AI 生成的内容可能不正确。">
            <a:extLst>
              <a:ext uri="{FF2B5EF4-FFF2-40B4-BE49-F238E27FC236}">
                <a16:creationId xmlns:a16="http://schemas.microsoft.com/office/drawing/2014/main" id="{AD0FA18F-CEA9-C223-9909-55CBB41D410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5997" y="5666700"/>
            <a:ext cx="534225" cy="534225"/>
          </a:xfrm>
          <a:prstGeom prst="rect">
            <a:avLst/>
          </a:prstGeom>
        </p:spPr>
      </p:pic>
      <p:pic>
        <p:nvPicPr>
          <p:cNvPr id="41" name="图片 40" descr="图标&#10;&#10;AI 生成的内容可能不正确。">
            <a:extLst>
              <a:ext uri="{FF2B5EF4-FFF2-40B4-BE49-F238E27FC236}">
                <a16:creationId xmlns:a16="http://schemas.microsoft.com/office/drawing/2014/main" id="{1E95E7D2-108A-0BA8-2EA4-51FB54B08BB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0463" y="6819256"/>
            <a:ext cx="534225" cy="5342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474184" cy="9756648"/>
          </a:xfrm>
          <a:prstGeom prst="rect">
            <a:avLst/>
          </a:prstGeom>
          <a:solidFill>
            <a:srgbClr val="ECECE4">
              <a:alpha val="100000"/>
            </a:srgbClr>
          </a:solidFill>
          <a:ln/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Shape 1"/>
          <p:cNvSpPr/>
          <p:nvPr/>
        </p:nvSpPr>
        <p:spPr>
          <a:xfrm>
            <a:off x="1269926" y="3417368"/>
            <a:ext cx="14896234" cy="471317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5" name="Image 1" descr=" 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731" y="3353848"/>
            <a:ext cx="15112121" cy="478939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8686295" y="7241262"/>
            <a:ext cx="3797079" cy="87657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3"/>
          <p:cNvSpPr/>
          <p:nvPr/>
        </p:nvSpPr>
        <p:spPr>
          <a:xfrm>
            <a:off x="8902182" y="7389475"/>
            <a:ext cx="3005492" cy="503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3C4539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Investor readiness</a:t>
            </a:r>
            <a:endParaRPr lang="en-US" sz="2600" dirty="0"/>
          </a:p>
        </p:txBody>
      </p:sp>
      <p:sp>
        <p:nvSpPr>
          <p:cNvPr id="8" name="Shape 4"/>
          <p:cNvSpPr/>
          <p:nvPr/>
        </p:nvSpPr>
        <p:spPr>
          <a:xfrm>
            <a:off x="5028908" y="7241262"/>
            <a:ext cx="3746282" cy="87657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5"/>
          <p:cNvSpPr/>
          <p:nvPr/>
        </p:nvSpPr>
        <p:spPr>
          <a:xfrm>
            <a:off x="5181299" y="7402179"/>
            <a:ext cx="1900656" cy="491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353F32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Scale sales</a:t>
            </a:r>
            <a:endParaRPr lang="en-US" sz="2600" dirty="0"/>
          </a:p>
        </p:txBody>
      </p:sp>
      <p:sp>
        <p:nvSpPr>
          <p:cNvPr id="10" name="Shape 6"/>
          <p:cNvSpPr/>
          <p:nvPr/>
        </p:nvSpPr>
        <p:spPr>
          <a:xfrm>
            <a:off x="1320723" y="7203150"/>
            <a:ext cx="3695485" cy="91468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7"/>
          <p:cNvSpPr/>
          <p:nvPr/>
        </p:nvSpPr>
        <p:spPr>
          <a:xfrm>
            <a:off x="1511212" y="7389475"/>
            <a:ext cx="2129243" cy="503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343D31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Month 10-12</a:t>
            </a:r>
            <a:endParaRPr lang="en-US" sz="2600" dirty="0"/>
          </a:p>
        </p:txBody>
      </p:sp>
      <p:sp>
        <p:nvSpPr>
          <p:cNvPr id="12" name="Shape 8"/>
          <p:cNvSpPr/>
          <p:nvPr/>
        </p:nvSpPr>
        <p:spPr>
          <a:xfrm>
            <a:off x="8686295" y="6402800"/>
            <a:ext cx="3797079" cy="82575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9"/>
          <p:cNvSpPr/>
          <p:nvPr/>
        </p:nvSpPr>
        <p:spPr>
          <a:xfrm>
            <a:off x="8902182" y="6525605"/>
            <a:ext cx="2878499" cy="580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323B2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Revenue tracking</a:t>
            </a:r>
            <a:endParaRPr lang="en-US" sz="2600" dirty="0"/>
          </a:p>
        </p:txBody>
      </p:sp>
      <p:sp>
        <p:nvSpPr>
          <p:cNvPr id="14" name="Shape 10"/>
          <p:cNvSpPr/>
          <p:nvPr/>
        </p:nvSpPr>
        <p:spPr>
          <a:xfrm>
            <a:off x="5028908" y="6390096"/>
            <a:ext cx="3733583" cy="83846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1"/>
          <p:cNvSpPr/>
          <p:nvPr/>
        </p:nvSpPr>
        <p:spPr>
          <a:xfrm>
            <a:off x="5193998" y="6525605"/>
            <a:ext cx="2141942" cy="580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353F32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Partnerships</a:t>
            </a:r>
            <a:endParaRPr lang="en-US" sz="2600" dirty="0"/>
          </a:p>
        </p:txBody>
      </p:sp>
      <p:sp>
        <p:nvSpPr>
          <p:cNvPr id="16" name="Shape 12"/>
          <p:cNvSpPr/>
          <p:nvPr/>
        </p:nvSpPr>
        <p:spPr>
          <a:xfrm>
            <a:off x="1320723" y="6351984"/>
            <a:ext cx="3695485" cy="92739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3"/>
          <p:cNvSpPr/>
          <p:nvPr/>
        </p:nvSpPr>
        <p:spPr>
          <a:xfrm>
            <a:off x="1511212" y="6538309"/>
            <a:ext cx="1799062" cy="503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333E31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Month 7-9</a:t>
            </a:r>
            <a:endParaRPr lang="en-US" sz="2600" dirty="0"/>
          </a:p>
        </p:txBody>
      </p:sp>
      <p:sp>
        <p:nvSpPr>
          <p:cNvPr id="18" name="Shape 14"/>
          <p:cNvSpPr/>
          <p:nvPr/>
        </p:nvSpPr>
        <p:spPr>
          <a:xfrm>
            <a:off x="12407179" y="5551634"/>
            <a:ext cx="3797079" cy="83846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5"/>
          <p:cNvSpPr/>
          <p:nvPr/>
        </p:nvSpPr>
        <p:spPr>
          <a:xfrm>
            <a:off x="12597668" y="5674439"/>
            <a:ext cx="3949470" cy="592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3A4238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Template v2, analytics</a:t>
            </a:r>
            <a:endParaRPr lang="en-US" sz="2600" dirty="0"/>
          </a:p>
        </p:txBody>
      </p:sp>
      <p:sp>
        <p:nvSpPr>
          <p:cNvPr id="20" name="Shape 16"/>
          <p:cNvSpPr/>
          <p:nvPr/>
        </p:nvSpPr>
        <p:spPr>
          <a:xfrm>
            <a:off x="8686295" y="5551634"/>
            <a:ext cx="3797079" cy="82575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7"/>
          <p:cNvSpPr/>
          <p:nvPr/>
        </p:nvSpPr>
        <p:spPr>
          <a:xfrm>
            <a:off x="8902182" y="5674439"/>
            <a:ext cx="2091145" cy="592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373E33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Pricing tests</a:t>
            </a:r>
            <a:endParaRPr lang="en-US" sz="2600" dirty="0"/>
          </a:p>
        </p:txBody>
      </p:sp>
      <p:sp>
        <p:nvSpPr>
          <p:cNvPr id="22" name="Shape 18"/>
          <p:cNvSpPr/>
          <p:nvPr/>
        </p:nvSpPr>
        <p:spPr>
          <a:xfrm>
            <a:off x="12407179" y="4344757"/>
            <a:ext cx="3809778" cy="119417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19"/>
          <p:cNvSpPr/>
          <p:nvPr/>
        </p:nvSpPr>
        <p:spPr>
          <a:xfrm>
            <a:off x="12610367" y="4442154"/>
            <a:ext cx="2624514" cy="999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494"/>
              </a:lnSpc>
              <a:buNone/>
            </a:pPr>
            <a:r>
              <a:rPr lang="en-US" sz="2600" dirty="0">
                <a:solidFill>
                  <a:srgbClr val="313C2E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OAuth hardening, localization QA</a:t>
            </a:r>
          </a:p>
        </p:txBody>
      </p:sp>
      <p:sp>
        <p:nvSpPr>
          <p:cNvPr id="24" name="Text 20"/>
          <p:cNvSpPr/>
          <p:nvPr/>
        </p:nvSpPr>
        <p:spPr>
          <a:xfrm>
            <a:off x="5193998" y="5699847"/>
            <a:ext cx="2548318" cy="491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3E463B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Pilot customers</a:t>
            </a:r>
            <a:endParaRPr lang="en-US" sz="2600" dirty="0"/>
          </a:p>
        </p:txBody>
      </p:sp>
      <p:sp>
        <p:nvSpPr>
          <p:cNvPr id="25" name="Text 21"/>
          <p:cNvSpPr/>
          <p:nvPr/>
        </p:nvSpPr>
        <p:spPr>
          <a:xfrm>
            <a:off x="1511212" y="5699847"/>
            <a:ext cx="1824461" cy="491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384135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Month 4-6</a:t>
            </a:r>
            <a:endParaRPr lang="en-US" sz="2600" dirty="0"/>
          </a:p>
        </p:txBody>
      </p:sp>
      <p:sp>
        <p:nvSpPr>
          <p:cNvPr id="26" name="Text 22"/>
          <p:cNvSpPr/>
          <p:nvPr/>
        </p:nvSpPr>
        <p:spPr>
          <a:xfrm>
            <a:off x="8902182" y="4645418"/>
            <a:ext cx="1989551" cy="580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354033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Grant setup</a:t>
            </a:r>
            <a:endParaRPr lang="en-US" sz="2600" dirty="0"/>
          </a:p>
        </p:txBody>
      </p:sp>
      <p:sp>
        <p:nvSpPr>
          <p:cNvPr id="27" name="Text 23"/>
          <p:cNvSpPr/>
          <p:nvPr/>
        </p:nvSpPr>
        <p:spPr>
          <a:xfrm>
            <a:off x="5181299" y="4658122"/>
            <a:ext cx="2472123" cy="503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2F3A2C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SME Validation</a:t>
            </a:r>
            <a:endParaRPr lang="en-US" sz="2600" dirty="0"/>
          </a:p>
        </p:txBody>
      </p:sp>
      <p:sp>
        <p:nvSpPr>
          <p:cNvPr id="28" name="Text 24"/>
          <p:cNvSpPr/>
          <p:nvPr/>
        </p:nvSpPr>
        <p:spPr>
          <a:xfrm>
            <a:off x="1511212" y="4670826"/>
            <a:ext cx="1760964" cy="491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354032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Month 1-3</a:t>
            </a:r>
            <a:endParaRPr lang="en-US" sz="2600" dirty="0"/>
          </a:p>
        </p:txBody>
      </p:sp>
      <p:sp>
        <p:nvSpPr>
          <p:cNvPr id="29" name="Text 25"/>
          <p:cNvSpPr/>
          <p:nvPr/>
        </p:nvSpPr>
        <p:spPr>
          <a:xfrm>
            <a:off x="12597668" y="3614279"/>
            <a:ext cx="2146175" cy="609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dirty="0">
                <a:solidFill>
                  <a:srgbClr val="3B4E3E">
                    <a:alpha val="10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Technology</a:t>
            </a:r>
            <a:endParaRPr lang="en-US" sz="2700" dirty="0"/>
          </a:p>
        </p:txBody>
      </p:sp>
      <p:sp>
        <p:nvSpPr>
          <p:cNvPr id="30" name="Text 26"/>
          <p:cNvSpPr/>
          <p:nvPr/>
        </p:nvSpPr>
        <p:spPr>
          <a:xfrm>
            <a:off x="8902182" y="3639687"/>
            <a:ext cx="1460415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dirty="0">
                <a:solidFill>
                  <a:srgbClr val="405143">
                    <a:alpha val="10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Finance</a:t>
            </a:r>
            <a:endParaRPr lang="en-US" sz="2700" dirty="0"/>
          </a:p>
        </p:txBody>
      </p:sp>
      <p:sp>
        <p:nvSpPr>
          <p:cNvPr id="31" name="Text 27"/>
          <p:cNvSpPr/>
          <p:nvPr/>
        </p:nvSpPr>
        <p:spPr>
          <a:xfrm>
            <a:off x="5193998" y="3601575"/>
            <a:ext cx="2425559" cy="571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dirty="0">
                <a:solidFill>
                  <a:srgbClr val="3A4D3F">
                    <a:alpha val="10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Business Dev</a:t>
            </a:r>
            <a:endParaRPr lang="en-US" sz="2700" dirty="0"/>
          </a:p>
        </p:txBody>
      </p:sp>
      <p:sp>
        <p:nvSpPr>
          <p:cNvPr id="32" name="Text 28"/>
          <p:cNvSpPr/>
          <p:nvPr/>
        </p:nvSpPr>
        <p:spPr>
          <a:xfrm>
            <a:off x="1511212" y="3652391"/>
            <a:ext cx="1168332" cy="495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dirty="0">
                <a:solidFill>
                  <a:srgbClr val="394D40">
                    <a:alpha val="10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Phase</a:t>
            </a:r>
            <a:endParaRPr lang="en-US" sz="2700" dirty="0"/>
          </a:p>
        </p:txBody>
      </p:sp>
      <p:sp>
        <p:nvSpPr>
          <p:cNvPr id="33" name="Shape 29"/>
          <p:cNvSpPr/>
          <p:nvPr/>
        </p:nvSpPr>
        <p:spPr>
          <a:xfrm>
            <a:off x="12394479" y="7241262"/>
            <a:ext cx="5028908" cy="87657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0"/>
          <p:cNvSpPr/>
          <p:nvPr/>
        </p:nvSpPr>
        <p:spPr>
          <a:xfrm>
            <a:off x="12623066" y="7364067"/>
            <a:ext cx="3132485" cy="592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323B2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Enterprise features</a:t>
            </a:r>
            <a:endParaRPr lang="en-US" sz="2600" dirty="0"/>
          </a:p>
        </p:txBody>
      </p:sp>
      <p:sp>
        <p:nvSpPr>
          <p:cNvPr id="35" name="Shape 31"/>
          <p:cNvSpPr/>
          <p:nvPr/>
        </p:nvSpPr>
        <p:spPr>
          <a:xfrm>
            <a:off x="12394479" y="6390096"/>
            <a:ext cx="4940013" cy="88927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2"/>
          <p:cNvSpPr/>
          <p:nvPr/>
        </p:nvSpPr>
        <p:spPr>
          <a:xfrm>
            <a:off x="12597668" y="6525605"/>
            <a:ext cx="3221379" cy="580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3E483C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Al pilot, automation</a:t>
            </a:r>
            <a:endParaRPr lang="en-US" sz="2600" dirty="0"/>
          </a:p>
        </p:txBody>
      </p:sp>
      <p:sp>
        <p:nvSpPr>
          <p:cNvPr id="38" name="Text 34"/>
          <p:cNvSpPr/>
          <p:nvPr/>
        </p:nvSpPr>
        <p:spPr>
          <a:xfrm>
            <a:off x="3530395" y="1437666"/>
            <a:ext cx="10790139" cy="1202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0" b="1" dirty="0">
                <a:solidFill>
                  <a:srgbClr val="3A4E3F">
                    <a:alpha val="100000"/>
                  </a:srgbClr>
                </a:solidFill>
                <a:latin typeface="EB Garamond Bold" pitchFamily="34" charset="0"/>
                <a:ea typeface="EB Garamond Bold" pitchFamily="34" charset="-122"/>
                <a:cs typeface="EB Garamond Bold" pitchFamily="34" charset="-120"/>
              </a:rPr>
              <a:t>12-Month Execution Schedule</a:t>
            </a:r>
            <a:endParaRPr lang="en-US" sz="6500" b="1" dirty="0"/>
          </a:p>
        </p:txBody>
      </p:sp>
      <p:pic>
        <p:nvPicPr>
          <p:cNvPr id="39" name="Image 1" descr=" ">
            <a:extLst>
              <a:ext uri="{FF2B5EF4-FFF2-40B4-BE49-F238E27FC236}">
                <a16:creationId xmlns:a16="http://schemas.microsoft.com/office/drawing/2014/main" id="{CBF1915F-31C2-7FFC-6C1F-1345F99DB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57176" y="8912481"/>
            <a:ext cx="816437" cy="84416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474184" cy="9756648"/>
          </a:xfrm>
          <a:prstGeom prst="rect">
            <a:avLst/>
          </a:prstGeom>
          <a:solidFill>
            <a:srgbClr val="EBEBE1">
              <a:alpha val="10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" name="Image 1" descr=" 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3703" y="3925526"/>
            <a:ext cx="4571734" cy="1460956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01648" y="2553498"/>
            <a:ext cx="8770253" cy="639009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6"/>
          <p:cNvSpPr/>
          <p:nvPr/>
        </p:nvSpPr>
        <p:spPr>
          <a:xfrm>
            <a:off x="642490" y="6419739"/>
            <a:ext cx="7192953" cy="1012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HK" altLang="zh-CN" sz="1600" b="1" dirty="0"/>
              <a:t>Founder, </a:t>
            </a:r>
            <a:r>
              <a:rPr lang="en-HK" altLang="zh-CN" sz="1600" b="1" dirty="0" err="1"/>
              <a:t>Kainuo</a:t>
            </a:r>
            <a:r>
              <a:rPr lang="en-HK" altLang="zh-CN" sz="1600" b="1" dirty="0"/>
              <a:t> </a:t>
            </a:r>
            <a:r>
              <a:rPr lang="en-HK" altLang="zh-CN" sz="1600" b="1" dirty="0" err="1"/>
              <a:t>Innovision</a:t>
            </a:r>
            <a:r>
              <a:rPr lang="en-HK" altLang="zh-CN" sz="1600" b="1" dirty="0"/>
              <a:t> Tech</a:t>
            </a:r>
            <a:r>
              <a:rPr lang="zh-TW" altLang="en-US" sz="1600" b="1" dirty="0"/>
              <a:t> </a:t>
            </a:r>
            <a:r>
              <a:rPr lang="en-HK" altLang="zh-CN" b="1" dirty="0"/>
              <a:t>Co., Limited</a:t>
            </a:r>
            <a:r>
              <a:rPr lang="en-HK" altLang="zh-CN" sz="1600" b="1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HK" altLang="zh-CN" sz="1600" dirty="0"/>
              <a:t>Leading a Software &amp; Website Development firm specializing in digital transformation solutions. Spearheading the R&amp;D and commercialization of the flagship AI CRM product for local SMEs.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HK" altLang="zh-CN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HK" altLang="zh-CN" sz="1600" b="1" dirty="0"/>
              <a:t>MSc Program &amp; Project Management (University of Warwick)</a:t>
            </a:r>
            <a:r>
              <a:rPr lang="en-HK" altLang="zh-CN" sz="16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HK" altLang="zh-CN" sz="1600" dirty="0"/>
              <a:t>Specialized in Agile Software Development, Product Management, and strategic delivery. Focused on rapid iteration and tech lifecycle management.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HK" altLang="zh-C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HK" altLang="zh-CN" sz="1600" b="1" dirty="0"/>
              <a:t>R&amp;D Project Experience (COCHE - </a:t>
            </a:r>
            <a:r>
              <a:rPr lang="en-HK" altLang="zh-CN" sz="1600" b="1" dirty="0" err="1"/>
              <a:t>InnoHK</a:t>
            </a:r>
            <a:r>
              <a:rPr lang="en-HK" altLang="zh-CN" sz="1600" b="1" dirty="0"/>
              <a:t> Centre)</a:t>
            </a:r>
            <a:r>
              <a:rPr lang="en-HK" altLang="zh-CN" sz="16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HK" altLang="zh-CN" sz="1600" dirty="0"/>
              <a:t>Former Project Assistant (AI Team) at the Centre for Cerebro-cardiovascular Health Engineering. Gained hands-on experience in AI project lifecycles, data compliance, and cross-functional team coordination within the HKSTP ecosystem.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HK" altLang="zh-C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HK" altLang="zh-CN" sz="1600" b="1" dirty="0"/>
              <a:t>Education (HKMU)</a:t>
            </a:r>
            <a:r>
              <a:rPr lang="en-HK" altLang="zh-CN" sz="16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HK" altLang="zh-CN" sz="1600" dirty="0"/>
              <a:t>Business Management &amp; Applied Psychology – Combining business strategy with user </a:t>
            </a:r>
            <a:r>
              <a:rPr lang="en-HK" altLang="zh-CN" sz="1600" dirty="0" err="1"/>
              <a:t>behavior</a:t>
            </a:r>
            <a:r>
              <a:rPr lang="en-HK" altLang="zh-CN" sz="1600" dirty="0"/>
              <a:t> insights to drive product-market fit.</a:t>
            </a:r>
          </a:p>
        </p:txBody>
      </p:sp>
      <p:sp>
        <p:nvSpPr>
          <p:cNvPr id="15" name="Text 7"/>
          <p:cNvSpPr/>
          <p:nvPr/>
        </p:nvSpPr>
        <p:spPr>
          <a:xfrm>
            <a:off x="1018330" y="3139681"/>
            <a:ext cx="1583175" cy="580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363636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Founder</a:t>
            </a:r>
            <a:endParaRPr lang="en-US" sz="2900" b="1" dirty="0"/>
          </a:p>
        </p:txBody>
      </p:sp>
      <p:sp>
        <p:nvSpPr>
          <p:cNvPr id="16" name="Text 8"/>
          <p:cNvSpPr/>
          <p:nvPr/>
        </p:nvSpPr>
        <p:spPr>
          <a:xfrm>
            <a:off x="1018330" y="2306387"/>
            <a:ext cx="4034132" cy="846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700" b="1" dirty="0">
                <a:solidFill>
                  <a:srgbClr val="121212">
                    <a:alpha val="10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Johnson Gao</a:t>
            </a:r>
            <a:endParaRPr lang="en-US" sz="4700" b="1" dirty="0"/>
          </a:p>
        </p:txBody>
      </p:sp>
      <p:sp>
        <p:nvSpPr>
          <p:cNvPr id="18" name="Text 10"/>
          <p:cNvSpPr/>
          <p:nvPr/>
        </p:nvSpPr>
        <p:spPr>
          <a:xfrm>
            <a:off x="8800588" y="7863757"/>
            <a:ext cx="3238312" cy="978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3420"/>
              </a:lnSpc>
              <a:buNone/>
            </a:pPr>
            <a:r>
              <a:rPr lang="en-US" sz="2400" dirty="0">
                <a:solidFill>
                  <a:srgbClr val="383834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Product/UX Designer</a:t>
            </a:r>
            <a:endParaRPr lang="en-US" sz="2400" dirty="0"/>
          </a:p>
          <a:p>
            <a:pPr marL="0" indent="0" algn="ctr">
              <a:lnSpc>
                <a:spcPts val="3420"/>
              </a:lnSpc>
              <a:buNone/>
            </a:pPr>
            <a:r>
              <a:rPr lang="en-US" sz="2400" dirty="0">
                <a:solidFill>
                  <a:srgbClr val="383834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(Hire)</a:t>
            </a:r>
            <a:endParaRPr lang="en-US" sz="2400" dirty="0"/>
          </a:p>
        </p:txBody>
      </p:sp>
      <p:sp>
        <p:nvSpPr>
          <p:cNvPr id="19" name="Text 11"/>
          <p:cNvSpPr/>
          <p:nvPr/>
        </p:nvSpPr>
        <p:spPr>
          <a:xfrm>
            <a:off x="9014359" y="6946954"/>
            <a:ext cx="2861567" cy="969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3373"/>
              </a:lnSpc>
              <a:buNone/>
            </a:pPr>
            <a:r>
              <a:rPr lang="en-US" sz="2500" dirty="0">
                <a:solidFill>
                  <a:srgbClr val="2D2E2A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Backend Engineer</a:t>
            </a:r>
            <a:endParaRPr lang="en-US" sz="2500" dirty="0"/>
          </a:p>
          <a:p>
            <a:pPr marL="0" indent="0" algn="ctr">
              <a:lnSpc>
                <a:spcPts val="3373"/>
              </a:lnSpc>
              <a:buNone/>
            </a:pPr>
            <a:r>
              <a:rPr lang="en-US" sz="2500" dirty="0">
                <a:solidFill>
                  <a:srgbClr val="2D2E2A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(Hire)</a:t>
            </a:r>
            <a:endParaRPr lang="en-US" sz="2500" dirty="0"/>
          </a:p>
        </p:txBody>
      </p:sp>
      <p:sp>
        <p:nvSpPr>
          <p:cNvPr id="20" name="Text 12"/>
          <p:cNvSpPr/>
          <p:nvPr/>
        </p:nvSpPr>
        <p:spPr>
          <a:xfrm>
            <a:off x="13054841" y="6034385"/>
            <a:ext cx="3479598" cy="990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3341"/>
              </a:lnSpc>
              <a:buNone/>
            </a:pPr>
            <a:r>
              <a:rPr lang="en-US" sz="2400" dirty="0">
                <a:solidFill>
                  <a:srgbClr val="393A35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Business Development</a:t>
            </a:r>
            <a:endParaRPr lang="en-US" sz="2400" dirty="0"/>
          </a:p>
          <a:p>
            <a:pPr marL="0" indent="0" algn="ctr">
              <a:lnSpc>
                <a:spcPts val="3341"/>
              </a:lnSpc>
              <a:buNone/>
            </a:pPr>
            <a:r>
              <a:rPr lang="en-US" sz="2400" dirty="0">
                <a:solidFill>
                  <a:srgbClr val="393A35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Manager (Hire)</a:t>
            </a:r>
            <a:endParaRPr lang="en-US" sz="2400" dirty="0"/>
          </a:p>
        </p:txBody>
      </p:sp>
      <p:sp>
        <p:nvSpPr>
          <p:cNvPr id="21" name="Text 13"/>
          <p:cNvSpPr/>
          <p:nvPr/>
        </p:nvSpPr>
        <p:spPr>
          <a:xfrm>
            <a:off x="8991077" y="6034385"/>
            <a:ext cx="2857334" cy="978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3420"/>
              </a:lnSpc>
              <a:buNone/>
            </a:pPr>
            <a:r>
              <a:rPr lang="en-US" sz="2400" dirty="0">
                <a:solidFill>
                  <a:srgbClr val="33343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Frontend Engineer</a:t>
            </a:r>
            <a:endParaRPr lang="en-US" sz="2400" dirty="0"/>
          </a:p>
          <a:p>
            <a:pPr marL="0" indent="0" algn="ctr">
              <a:lnSpc>
                <a:spcPts val="3420"/>
              </a:lnSpc>
              <a:buNone/>
            </a:pPr>
            <a:r>
              <a:rPr lang="en-US" sz="2400" dirty="0">
                <a:solidFill>
                  <a:srgbClr val="33343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 (Hire)</a:t>
            </a:r>
            <a:endParaRPr lang="en-US" sz="2400" dirty="0"/>
          </a:p>
        </p:txBody>
      </p:sp>
      <p:sp>
        <p:nvSpPr>
          <p:cNvPr id="22" name="Text 14"/>
          <p:cNvSpPr/>
          <p:nvPr/>
        </p:nvSpPr>
        <p:spPr>
          <a:xfrm>
            <a:off x="14070782" y="5356840"/>
            <a:ext cx="1532378" cy="478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31322E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Business</a:t>
            </a:r>
            <a:endParaRPr lang="en-US" sz="2600" dirty="0"/>
          </a:p>
        </p:txBody>
      </p:sp>
      <p:sp>
        <p:nvSpPr>
          <p:cNvPr id="23" name="Text 15"/>
          <p:cNvSpPr/>
          <p:nvPr/>
        </p:nvSpPr>
        <p:spPr>
          <a:xfrm>
            <a:off x="9460950" y="5329315"/>
            <a:ext cx="2019183" cy="584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dirty="0">
                <a:solidFill>
                  <a:srgbClr val="2D2D2A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Technology</a:t>
            </a:r>
            <a:endParaRPr lang="en-US" sz="2700" dirty="0"/>
          </a:p>
        </p:txBody>
      </p:sp>
      <p:sp>
        <p:nvSpPr>
          <p:cNvPr id="24" name="Text 16"/>
          <p:cNvSpPr/>
          <p:nvPr/>
        </p:nvSpPr>
        <p:spPr>
          <a:xfrm>
            <a:off x="11310809" y="2904974"/>
            <a:ext cx="2472123" cy="10247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3494"/>
              </a:lnSpc>
              <a:buNone/>
            </a:pPr>
            <a:r>
              <a:rPr lang="en-US" sz="2600" dirty="0">
                <a:solidFill>
                  <a:srgbClr val="30312D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Founder</a:t>
            </a:r>
            <a:endParaRPr lang="en-US" sz="2600" dirty="0"/>
          </a:p>
          <a:p>
            <a:pPr marL="0" indent="0" algn="ctr">
              <a:lnSpc>
                <a:spcPts val="3494"/>
              </a:lnSpc>
              <a:buNone/>
            </a:pPr>
            <a:r>
              <a:rPr lang="en-US" sz="2600" dirty="0">
                <a:solidFill>
                  <a:srgbClr val="30312D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(Johnson Gao)</a:t>
            </a:r>
            <a:endParaRPr lang="en-US" sz="2600" dirty="0"/>
          </a:p>
        </p:txBody>
      </p:sp>
      <p:sp>
        <p:nvSpPr>
          <p:cNvPr id="25" name="Text 17"/>
          <p:cNvSpPr/>
          <p:nvPr/>
        </p:nvSpPr>
        <p:spPr>
          <a:xfrm>
            <a:off x="3695485" y="793998"/>
            <a:ext cx="10464192" cy="13466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900" b="1" dirty="0">
                <a:solidFill>
                  <a:srgbClr val="425847">
                    <a:alpha val="100000"/>
                  </a:srgbClr>
                </a:solidFill>
                <a:latin typeface="EB Garamond Bold" pitchFamily="34" charset="0"/>
                <a:ea typeface="EB Garamond Bold" pitchFamily="34" charset="-122"/>
                <a:cs typeface="EB Garamond Bold" pitchFamily="34" charset="-120"/>
              </a:rPr>
              <a:t>Management &amp; R&amp;D Team</a:t>
            </a:r>
            <a:endParaRPr lang="en-US" sz="6900" b="1" dirty="0"/>
          </a:p>
        </p:txBody>
      </p:sp>
      <p:pic>
        <p:nvPicPr>
          <p:cNvPr id="27" name="图片 26" descr="人站在房子前面&#10;&#10;AI 生成的内容可能不正确。">
            <a:extLst>
              <a:ext uri="{FF2B5EF4-FFF2-40B4-BE49-F238E27FC236}">
                <a16:creationId xmlns:a16="http://schemas.microsoft.com/office/drawing/2014/main" id="{AAF80D4A-3181-4350-21CB-A05355B13C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2930" y="2324953"/>
            <a:ext cx="1876627" cy="212684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8" name="Image 1" descr=" ">
            <a:extLst>
              <a:ext uri="{FF2B5EF4-FFF2-40B4-BE49-F238E27FC236}">
                <a16:creationId xmlns:a16="http://schemas.microsoft.com/office/drawing/2014/main" id="{A42E408A-B981-13DE-29CA-709AEB074C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57176" y="8912481"/>
            <a:ext cx="816437" cy="84416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474184" cy="9756648"/>
          </a:xfrm>
          <a:prstGeom prst="rect">
            <a:avLst/>
          </a:prstGeom>
          <a:solidFill>
            <a:srgbClr val="ECEEE7">
              <a:alpha val="10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2502682"/>
            <a:ext cx="17474184" cy="725396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0" y="6440912"/>
            <a:ext cx="17474184" cy="330303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0" y="8498955"/>
            <a:ext cx="17474184" cy="124498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2958928" y="8839845"/>
            <a:ext cx="11751050" cy="588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4F564D">
                    <a:alpha val="100000"/>
                  </a:srgbClr>
                </a:solidFill>
                <a:latin typeface="Times New Roman Italic" pitchFamily="34" charset="0"/>
                <a:ea typeface="Times New Roman Italic" pitchFamily="34" charset="-122"/>
                <a:cs typeface="Times New Roman Italic" pitchFamily="34" charset="-120"/>
              </a:rPr>
              <a:t>Use Custly to understand your customers better, so that you can grow your business faster!</a:t>
            </a:r>
            <a:endParaRPr lang="en-US" sz="2500" dirty="0"/>
          </a:p>
        </p:txBody>
      </p:sp>
      <p:sp>
        <p:nvSpPr>
          <p:cNvPr id="13" name="Text 9"/>
          <p:cNvSpPr/>
          <p:nvPr/>
        </p:nvSpPr>
        <p:spPr>
          <a:xfrm>
            <a:off x="1267971" y="7201033"/>
            <a:ext cx="9252342" cy="8765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780"/>
              </a:lnSpc>
            </a:pPr>
            <a:r>
              <a:rPr lang="en-US" sz="1800" dirty="0">
                <a:solidFill>
                  <a:srgbClr val="585B55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📧 Email: </a:t>
            </a:r>
            <a:r>
              <a:rPr lang="en-US" sz="1800" dirty="0">
                <a:solidFill>
                  <a:srgbClr val="585B55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  <a:hlinkClick r:id="rId3"/>
              </a:rPr>
              <a:t>contact@kainuotech.com</a:t>
            </a:r>
            <a:r>
              <a:rPr lang="en-US" sz="1800" dirty="0">
                <a:solidFill>
                  <a:srgbClr val="585B55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 </a:t>
            </a:r>
            <a:br>
              <a:rPr lang="en-US" sz="1800" dirty="0">
                <a:solidFill>
                  <a:srgbClr val="585B55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</a:br>
            <a:r>
              <a:rPr lang="en-US" sz="1800" dirty="0">
                <a:solidFill>
                  <a:srgbClr val="585B55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📱 WhatsApp / Mobile: +852 9341 2653 </a:t>
            </a:r>
            <a:br>
              <a:rPr lang="en-US" sz="1800" dirty="0">
                <a:solidFill>
                  <a:srgbClr val="585B55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</a:br>
            <a:r>
              <a:rPr lang="en-US" sz="1800" dirty="0">
                <a:solidFill>
                  <a:srgbClr val="585B55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🔗 LinkedIn</a:t>
            </a:r>
            <a:r>
              <a:rPr lang="en-US" dirty="0">
                <a:solidFill>
                  <a:srgbClr val="585B55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: </a:t>
            </a:r>
            <a:r>
              <a:rPr lang="en-US" dirty="0" err="1">
                <a:solidFill>
                  <a:srgbClr val="585B55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linkedin.com</a:t>
            </a:r>
            <a:r>
              <a:rPr lang="en-US" dirty="0">
                <a:solidFill>
                  <a:srgbClr val="585B55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/company/</a:t>
            </a:r>
            <a:r>
              <a:rPr lang="en-US" dirty="0" err="1">
                <a:solidFill>
                  <a:srgbClr val="585B55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kainuo</a:t>
            </a:r>
            <a:r>
              <a:rPr lang="en-US" dirty="0">
                <a:solidFill>
                  <a:srgbClr val="585B55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-tech/ </a:t>
            </a:r>
            <a:br>
              <a:rPr lang="en-US" sz="1800" dirty="0">
                <a:solidFill>
                  <a:srgbClr val="585B55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</a:br>
            <a:r>
              <a:rPr lang="en-US" altLang="zh-CN" dirty="0">
                <a:solidFill>
                  <a:srgbClr val="585B55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🌐 </a:t>
            </a:r>
            <a:r>
              <a:rPr lang="en-US" sz="1800" dirty="0">
                <a:solidFill>
                  <a:srgbClr val="585B55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Product Demo URL: </a:t>
            </a:r>
            <a:r>
              <a:rPr lang="en-US" sz="1800" dirty="0">
                <a:solidFill>
                  <a:srgbClr val="585B55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  <a:hlinkClick r:id="rId4"/>
              </a:rPr>
              <a:t>www.custly-crm.kainuotech.com</a:t>
            </a:r>
            <a:r>
              <a:rPr lang="en-US" altLang="zh-TW" sz="1800" dirty="0">
                <a:solidFill>
                  <a:srgbClr val="585B55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  <a:hlinkClick r:id="rId4"/>
              </a:rPr>
              <a:t>/demo</a:t>
            </a:r>
            <a:r>
              <a:rPr lang="en-US" altLang="zh-TW" sz="1800" dirty="0">
                <a:solidFill>
                  <a:srgbClr val="585B55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 </a:t>
            </a:r>
          </a:p>
          <a:p>
            <a:pPr>
              <a:lnSpc>
                <a:spcPts val="2780"/>
              </a:lnSpc>
            </a:pPr>
            <a:r>
              <a:rPr lang="en-US" sz="1800" dirty="0">
                <a:solidFill>
                  <a:srgbClr val="585B55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🏢 Company Website: </a:t>
            </a:r>
            <a:r>
              <a:rPr lang="en-US" sz="1800" dirty="0">
                <a:solidFill>
                  <a:srgbClr val="585B55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  <a:hlinkClick r:id="rId5"/>
              </a:rPr>
              <a:t>www.kainuotech.com</a:t>
            </a:r>
            <a:endParaRPr lang="en-US" sz="1800" dirty="0">
              <a:solidFill>
                <a:srgbClr val="585B55">
                  <a:alpha val="100000"/>
                </a:srgbClr>
              </a:solidFill>
              <a:latin typeface="Inter Regular" pitchFamily="34" charset="0"/>
              <a:ea typeface="Inter Regular" pitchFamily="34" charset="-122"/>
              <a:cs typeface="Inter Regular" pitchFamily="34" charset="-12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1291092" y="6273331"/>
            <a:ext cx="1667836" cy="398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3D4C3D">
                    <a:alpha val="10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Contact Us</a:t>
            </a:r>
            <a:endParaRPr lang="en-US" sz="2200" b="1" dirty="0"/>
          </a:p>
        </p:txBody>
      </p:sp>
      <p:sp>
        <p:nvSpPr>
          <p:cNvPr id="19" name="Shape 14"/>
          <p:cNvSpPr/>
          <p:nvPr/>
        </p:nvSpPr>
        <p:spPr>
          <a:xfrm>
            <a:off x="8572002" y="4967252"/>
            <a:ext cx="1714400" cy="63519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16"/>
          <p:cNvSpPr/>
          <p:nvPr/>
        </p:nvSpPr>
        <p:spPr>
          <a:xfrm>
            <a:off x="7009992" y="4967252"/>
            <a:ext cx="1523911" cy="63519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1"/>
          <p:cNvSpPr/>
          <p:nvPr/>
        </p:nvSpPr>
        <p:spPr>
          <a:xfrm>
            <a:off x="787354" y="1867483"/>
            <a:ext cx="16089964" cy="74953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3"/>
          <p:cNvSpPr/>
          <p:nvPr/>
        </p:nvSpPr>
        <p:spPr>
          <a:xfrm>
            <a:off x="14985129" y="2007227"/>
            <a:ext cx="1028640" cy="44463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26"/>
          <p:cNvSpPr/>
          <p:nvPr/>
        </p:nvSpPr>
        <p:spPr>
          <a:xfrm>
            <a:off x="12864352" y="1994523"/>
            <a:ext cx="1269926" cy="45734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35"/>
          <p:cNvSpPr/>
          <p:nvPr/>
        </p:nvSpPr>
        <p:spPr>
          <a:xfrm>
            <a:off x="495271" y="0"/>
            <a:ext cx="16966214" cy="185477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36"/>
          <p:cNvSpPr/>
          <p:nvPr/>
        </p:nvSpPr>
        <p:spPr>
          <a:xfrm>
            <a:off x="914347" y="643668"/>
            <a:ext cx="8351881" cy="1062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3F5343">
                    <a:alpha val="100000"/>
                  </a:srgbClr>
                </a:solidFill>
                <a:latin typeface="Times New Roman Bold" pitchFamily="34" charset="0"/>
                <a:ea typeface="Times New Roman Bold" pitchFamily="34" charset="-122"/>
                <a:cs typeface="Times New Roman Bold" pitchFamily="34" charset="-120"/>
              </a:rPr>
              <a:t>Conclusion &amp; Compliance</a:t>
            </a:r>
            <a:endParaRPr lang="en-US" sz="5600" b="1" dirty="0"/>
          </a:p>
        </p:txBody>
      </p:sp>
      <p:pic>
        <p:nvPicPr>
          <p:cNvPr id="47" name="图片 46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32C31A46-37D4-8A38-2584-576FB4361B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7971" y="1706567"/>
            <a:ext cx="14059391" cy="4120483"/>
          </a:xfrm>
          <a:prstGeom prst="rect">
            <a:avLst/>
          </a:prstGeom>
        </p:spPr>
      </p:pic>
      <p:pic>
        <p:nvPicPr>
          <p:cNvPr id="48" name="Image 1" descr=" ">
            <a:extLst>
              <a:ext uri="{FF2B5EF4-FFF2-40B4-BE49-F238E27FC236}">
                <a16:creationId xmlns:a16="http://schemas.microsoft.com/office/drawing/2014/main" id="{4BBC3B66-92C5-75BB-EBB9-A57AF4E334C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57176" y="8912481"/>
            <a:ext cx="816437" cy="844167"/>
          </a:xfrm>
          <a:prstGeom prst="rect">
            <a:avLst/>
          </a:prstGeom>
        </p:spPr>
      </p:pic>
      <p:sp>
        <p:nvSpPr>
          <p:cNvPr id="49" name="Text 12">
            <a:extLst>
              <a:ext uri="{FF2B5EF4-FFF2-40B4-BE49-F238E27FC236}">
                <a16:creationId xmlns:a16="http://schemas.microsoft.com/office/drawing/2014/main" id="{79471EF1-D590-0012-E25C-340E986C9EB0}"/>
              </a:ext>
            </a:extLst>
          </p:cNvPr>
          <p:cNvSpPr/>
          <p:nvPr/>
        </p:nvSpPr>
        <p:spPr>
          <a:xfrm>
            <a:off x="10936602" y="6452182"/>
            <a:ext cx="6340319" cy="398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3D4C3D">
                    <a:alpha val="10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Technical Architecture &amp; Strategy</a:t>
            </a:r>
            <a:endParaRPr lang="en-US" sz="2200" b="1" dirty="0"/>
          </a:p>
        </p:txBody>
      </p:sp>
      <p:sp>
        <p:nvSpPr>
          <p:cNvPr id="50" name="Text 9">
            <a:extLst>
              <a:ext uri="{FF2B5EF4-FFF2-40B4-BE49-F238E27FC236}">
                <a16:creationId xmlns:a16="http://schemas.microsoft.com/office/drawing/2014/main" id="{B4E6B05C-4084-EB03-B305-44A6F06E90F1}"/>
              </a:ext>
            </a:extLst>
          </p:cNvPr>
          <p:cNvSpPr/>
          <p:nvPr/>
        </p:nvSpPr>
        <p:spPr>
          <a:xfrm>
            <a:off x="10936602" y="7173634"/>
            <a:ext cx="5000231" cy="8765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ts val="27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585B55">
                    <a:alpha val="100000"/>
                  </a:srgbClr>
                </a:solidFill>
                <a:effectLst/>
                <a:uLnTx/>
                <a:uFillTx/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Built on a robust Open-Source Foundation (MIT Licensed) to ensure core stability, while we focus 100% on Proprietary Localization &amp; Vertical Features.</a:t>
            </a:r>
          </a:p>
          <a:p>
            <a:pPr>
              <a:lnSpc>
                <a:spcPts val="2780"/>
              </a:lnSpc>
            </a:pPr>
            <a:endParaRPr lang="en-US" dirty="0">
              <a:solidFill>
                <a:srgbClr val="295725"/>
              </a:solidFill>
              <a:latin typeface="Inter Regular" pitchFamily="34" charset="0"/>
              <a:ea typeface="Inter Regular" pitchFamily="34" charset="-122"/>
              <a:cs typeface="Inter Regular" pitchFamily="3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1005</Words>
  <Application>Microsoft Macintosh PowerPoint</Application>
  <PresentationFormat>自定义</PresentationFormat>
  <Paragraphs>246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7" baseType="lpstr">
      <vt:lpstr>EB Garamond Bold</vt:lpstr>
      <vt:lpstr>EB Garamond Regular</vt:lpstr>
      <vt:lpstr>Inter Bold</vt:lpstr>
      <vt:lpstr>Inter Light</vt:lpstr>
      <vt:lpstr>Inter Medium</vt:lpstr>
      <vt:lpstr>Inter Regular</vt:lpstr>
      <vt:lpstr>Inter Semi Bold</vt:lpstr>
      <vt:lpstr>PingFang SC Regular</vt:lpstr>
      <vt:lpstr>Times New Roman Bold</vt:lpstr>
      <vt:lpstr>Times New Roman Italic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Johnson Gao</cp:lastModifiedBy>
  <cp:revision>6</cp:revision>
  <dcterms:created xsi:type="dcterms:W3CDTF">2026-01-28T14:44:12Z</dcterms:created>
  <dcterms:modified xsi:type="dcterms:W3CDTF">2026-01-28T16:52:20Z</dcterms:modified>
</cp:coreProperties>
</file>